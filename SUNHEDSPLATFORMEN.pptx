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8"/>
  </p:notesMasterIdLst>
  <p:sldIdLst>
    <p:sldId id="256" r:id="rId2"/>
    <p:sldId id="261" r:id="rId3"/>
    <p:sldId id="257" r:id="rId4"/>
    <p:sldId id="258" r:id="rId5"/>
    <p:sldId id="259" r:id="rId6"/>
    <p:sldId id="260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93" autoAdjust="0"/>
    <p:restoredTop sz="79122" autoAdjust="0"/>
  </p:normalViewPr>
  <p:slideViewPr>
    <p:cSldViewPr snapToGrid="0">
      <p:cViewPr varScale="1">
        <p:scale>
          <a:sx n="128" d="100"/>
          <a:sy n="128" d="100"/>
        </p:scale>
        <p:origin x="1428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idehoved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Pladsholder til dato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8FC89D0-2288-4D83-99CF-1ADDF523A3E3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4" name="Pladsholder til slidebille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Pladsholder til no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D8D9F18-A203-444A-877C-A128830382B4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74876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8D9F18-A203-444A-877C-A128830382B4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89064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 err="1"/>
              <a:t>Epic</a:t>
            </a:r>
            <a:r>
              <a:rPr lang="da-DK" dirty="0"/>
              <a:t> Systems Corporation er et amerikansk firma.</a:t>
            </a:r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8D9F18-A203-444A-877C-A128830382B4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1308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Sundhedsplatformen – </a:t>
            </a:r>
            <a:r>
              <a:rPr lang="da-DK" dirty="0" err="1"/>
              <a:t>title</a:t>
            </a:r>
            <a:r>
              <a:rPr lang="da-DK" dirty="0"/>
              <a:t> på projektet.</a:t>
            </a:r>
          </a:p>
          <a:p>
            <a:endParaRPr lang="da-DK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a-DK" dirty="0"/>
              <a:t>Et samlet moderne system der understøtter både kliniske og administrative arbejdsgange (medicinering, dokumentation, stuegang, booking, laboratorieprøver </a:t>
            </a:r>
            <a:r>
              <a:rPr lang="da-DK" dirty="0" err="1"/>
              <a:t>m.v</a:t>
            </a:r>
            <a:r>
              <a:rPr lang="da-DK" dirty="0"/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da-DK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a-DK" dirty="0"/>
              <a:t>Udrulning sker fra Maj 2016 til November 2017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da-DK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a-DK" dirty="0"/>
              <a:t>Min Sundhedsplatform er en patientportal hvor patienter kan følge aftaler og se prøvesvar.</a:t>
            </a:r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8D9F18-A203-444A-877C-A128830382B4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234732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Der blev tabt aktivitet på hospitalerne efter implementeringen, fx færre patienter blev behandlet. Eksempel: På Herlev og Gentofte Hospital kostede de første tre måneder ca. 70 mio. kr. på tabt aktivitet, + 16 mio. kr. overarbejde, + 20 mio. kr. ekstra it-udstyr.</a:t>
            </a:r>
          </a:p>
          <a:p>
            <a:endParaRPr lang="da-DK" dirty="0"/>
          </a:p>
          <a:p>
            <a:r>
              <a:rPr lang="da-DK" dirty="0"/>
              <a:t>Brugervenlighed og arbejdsgangene var ikke tilstrækkeligt tilpassede eller testede før udrulning: systemet krævede mange klik, var tungt for brugerne, og uddannelsen var utilstrækkelig. </a:t>
            </a:r>
          </a:p>
          <a:p>
            <a:endParaRPr lang="da-DK" dirty="0"/>
          </a:p>
          <a:p>
            <a:r>
              <a:rPr lang="da-DK" dirty="0"/>
              <a:t>Fejl i medicinmodulet og dataoverførsel til/fra Fælles Medicin Kort</a:t>
            </a:r>
            <a:br>
              <a:rPr lang="da-DK" dirty="0"/>
            </a:br>
            <a:r>
              <a:rPr lang="da-DK" dirty="0"/>
              <a:t>Et eksempel: Et kodemodul i SP medførte, at en patient fik ordination “8 tablet­ter én gang ugentligt” vist korrekt i SP, men i FMK-fritekstfeltet stod “8 tabletter morgen mandag hver uge 8 tabletter morgen torsdag hver uge”. Det var ifølge regionens egne oplysninger en systemopsætning i SP, der var årsag.</a:t>
            </a:r>
            <a:endParaRPr lang="en-US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8D9F18-A203-444A-877C-A128830382B4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98525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4242851"/>
            <a:ext cx="8968084" cy="275942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1716" y="4243845"/>
            <a:ext cx="3077108" cy="2769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2590078"/>
            <a:ext cx="8968085" cy="166033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9111715" y="2590078"/>
            <a:ext cx="3077109" cy="1660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0322" y="2733709"/>
            <a:ext cx="8144134" cy="1373070"/>
          </a:xfrm>
        </p:spPr>
        <p:txBody>
          <a:bodyPr anchor="b">
            <a:noAutofit/>
          </a:bodyPr>
          <a:lstStyle>
            <a:lvl1pPr algn="r">
              <a:defRPr sz="5400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0322" y="4394039"/>
            <a:ext cx="8144134" cy="1117687"/>
          </a:xfrm>
        </p:spPr>
        <p:txBody>
          <a:bodyPr>
            <a:normAutofit/>
          </a:bodyPr>
          <a:lstStyle>
            <a:lvl1pPr marL="0" indent="0" algn="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a-DK"/>
              <a:t>Klik for at redigere undertiteltypografien i masteren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ABE3C1-DBE1-495D-B57B-2849774B866A}" type="datetimeFigureOut">
              <a:rPr lang="en-US" dirty="0"/>
              <a:t>11/10/2025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255346" y="2750337"/>
            <a:ext cx="1171888" cy="1356442"/>
          </a:xfrm>
        </p:spPr>
        <p:txBody>
          <a:bodyPr/>
          <a:lstStyle/>
          <a:p>
            <a:fld id="{6D22F896-40B5-4ADD-8801-0D06FADFA095}" type="slidenum">
              <a:rPr lang="en-US" dirty="0"/>
              <a:t>‹nr.›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og indholdsobje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DE42F4-6EEF-4EF7-8ED4-2208F0F89A08}" type="datetimeFigureOut">
              <a:rPr lang="en-US" dirty="0"/>
              <a:t>11/10/2025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‹nr.›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fsnitsoversk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4086907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4" y="4087901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-2" y="2726267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5" y="2726267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2869895"/>
            <a:ext cx="9613860" cy="1090788"/>
          </a:xfrm>
        </p:spPr>
        <p:txBody>
          <a:bodyPr anchor="ctr">
            <a:normAutofit/>
          </a:bodyPr>
          <a:lstStyle>
            <a:lvl1pPr algn="r">
              <a:defRPr sz="3600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2" y="4232171"/>
            <a:ext cx="9613860" cy="1704017"/>
          </a:xfrm>
        </p:spPr>
        <p:txBody>
          <a:bodyPr>
            <a:normAutofit/>
          </a:bodyPr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578ACC-22D6-47C1-A373-4FD133E34F3C}" type="datetimeFigureOut">
              <a:rPr lang="en-US" dirty="0"/>
              <a:t>11/10/2025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729455" y="2869895"/>
            <a:ext cx="1154151" cy="1090789"/>
          </a:xfrm>
        </p:spPr>
        <p:txBody>
          <a:bodyPr/>
          <a:lstStyle/>
          <a:p>
            <a:fld id="{6D22F896-40B5-4ADD-8801-0D06FADFA095}" type="slidenum">
              <a:rPr lang="en-US" dirty="0"/>
              <a:t>‹nr.›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o indholdsobjek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0320" y="2336873"/>
            <a:ext cx="4698358" cy="3599316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594123" y="2336873"/>
            <a:ext cx="4700058" cy="3599316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A6C69-6797-4E8A-BF37-F2C3751466E9}" type="datetimeFigureOut">
              <a:rPr lang="en-US" dirty="0"/>
              <a:t>11/10/2025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‹nr.›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Sammenlig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1" name="Picture 10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19" y="753229"/>
            <a:ext cx="9613863" cy="1080937"/>
          </a:xfrm>
        </p:spPr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6350" y="2336873"/>
            <a:ext cx="4472327" cy="69313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0322" y="3030008"/>
            <a:ext cx="4698355" cy="2906179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820154" y="2336873"/>
            <a:ext cx="4474028" cy="69207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594123" y="3030008"/>
            <a:ext cx="4700059" cy="2906179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2014A1-A632-4878-A0D3-F52BA7563730}" type="datetimeFigureOut">
              <a:rPr lang="en-US" dirty="0"/>
              <a:t>11/10/2025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‹nr.›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7" name="Picture 6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99F462-093F-4566-844B-4C71F2739DA5}" type="datetimeFigureOut">
              <a:rPr lang="en-US" dirty="0"/>
              <a:t>11/10/2025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‹nr.›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HD-ShadowShor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4A7AC-904D-4781-85BA-7D10C17ED021}" type="datetimeFigureOut">
              <a:rPr lang="en-US" dirty="0"/>
              <a:t>11/10/2025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‹nr.›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dhold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1" y="753227"/>
            <a:ext cx="9613859" cy="108094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85846" y="2336873"/>
            <a:ext cx="5608336" cy="3599313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2336872"/>
            <a:ext cx="3790078" cy="359931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31444B-B92B-4E27-8C94-BB93EAF5CB18}" type="datetimeFigureOut">
              <a:rPr lang="en-US" dirty="0"/>
              <a:t>11/10/2025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‹nr.›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lede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3" y="753228"/>
            <a:ext cx="9613857" cy="1080938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868333" y="2336874"/>
            <a:ext cx="5425849" cy="3599312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a-DK"/>
              <a:t>Klik på ikonet for at tilføje et billede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3" y="2336873"/>
            <a:ext cx="3876256" cy="3599315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3EFA5E-FA76-400D-B3DC-F0BA90E6D107}" type="datetimeFigureOut">
              <a:rPr lang="en-US" dirty="0"/>
              <a:t>11/10/2025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‹nr.›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sk billede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4711616"/>
            <a:ext cx="9613859" cy="453051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0322" y="609597"/>
            <a:ext cx="9613859" cy="3589575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a-DK"/>
              <a:t>Klik på ikonet for at tilføje et billede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19" y="5169583"/>
            <a:ext cx="9613862" cy="622971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6C117F-5CCF-4837-BE5F-2B92066CAFAF}" type="datetimeFigureOut">
              <a:rPr lang="en-US" dirty="0"/>
              <a:t>11/10/2025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11309"/>
            <a:ext cx="1154151" cy="1090789"/>
          </a:xfrm>
        </p:spPr>
        <p:txBody>
          <a:bodyPr/>
          <a:lstStyle/>
          <a:p>
            <a:fld id="{6D22F896-40B5-4ADD-8801-0D06FADFA095}" type="slidenum">
              <a:rPr lang="en-US" dirty="0"/>
              <a:t>‹nr.›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og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609597"/>
            <a:ext cx="9613858" cy="3592750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5"/>
            <a:ext cx="9613859" cy="1090789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EB90BD-B6CE-46B7-997F-7313B992CCDC}" type="datetimeFigureOut">
              <a:rPr lang="en-US" dirty="0"/>
              <a:t>11/10/2025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11615"/>
            <a:ext cx="1154151" cy="1090789"/>
          </a:xfrm>
        </p:spPr>
        <p:txBody>
          <a:bodyPr/>
          <a:lstStyle/>
          <a:p>
            <a:fld id="{6D22F896-40B5-4ADD-8801-0D06FADFA095}" type="slidenum">
              <a:rPr lang="en-US" dirty="0"/>
              <a:t>‹nr.›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3" name="Picture 12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27856" y="609598"/>
            <a:ext cx="8718877" cy="3036061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402288" y="3653379"/>
            <a:ext cx="815657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5"/>
            <a:ext cx="9613859" cy="1090789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B9D11F-B188-461D-B23F-39381795C052}" type="datetimeFigureOut">
              <a:rPr lang="en-US" dirty="0"/>
              <a:t>11/10/2025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09925"/>
            <a:ext cx="1154151" cy="1090789"/>
          </a:xfrm>
        </p:spPr>
        <p:txBody>
          <a:bodyPr/>
          <a:lstStyle/>
          <a:p>
            <a:fld id="{6D22F896-40B5-4ADD-8801-0D06FADFA095}" type="slidenum">
              <a:rPr lang="en-US" dirty="0"/>
              <a:t>‹nr.›</a:t>
            </a:fld>
            <a:endParaRPr lang="en-US" dirty="0"/>
          </a:p>
        </p:txBody>
      </p:sp>
      <p:sp>
        <p:nvSpPr>
          <p:cNvPr id="16" name="TextBox 15"/>
          <p:cNvSpPr txBox="1"/>
          <p:nvPr/>
        </p:nvSpPr>
        <p:spPr>
          <a:xfrm>
            <a:off x="583572" y="74811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72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62809" y="30335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72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vneko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0" name="Picture 9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" name="Rectangle 11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19" y="4711615"/>
            <a:ext cx="9613862" cy="5885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0" y="5300149"/>
            <a:ext cx="9613862" cy="50225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E6D8D9-55A2-4063-B0F3-121F44549695}" type="datetimeFigureOut">
              <a:rPr lang="en-US" dirty="0"/>
              <a:t>11/10/2025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09925"/>
            <a:ext cx="1154151" cy="1090789"/>
          </a:xfrm>
        </p:spPr>
        <p:txBody>
          <a:bodyPr/>
          <a:lstStyle/>
          <a:p>
            <a:fld id="{6D22F896-40B5-4ADD-8801-0D06FADFA095}" type="slidenum">
              <a:rPr lang="en-US" dirty="0"/>
              <a:t>‹nr.›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kolo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4" name="Picture 13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" name="Rectangle 16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669222" y="753228"/>
            <a:ext cx="9624960" cy="1080938"/>
          </a:xfrm>
        </p:spPr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60946" y="2336873"/>
            <a:ext cx="3070034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0322" y="3022673"/>
            <a:ext cx="3049702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56025" y="233687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945470" y="3022673"/>
            <a:ext cx="3063240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24156" y="2336873"/>
            <a:ext cx="30700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224156" y="3022673"/>
            <a:ext cx="3070025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B24536-994D-4021-A283-9F449C0DB509}" type="datetimeFigureOut">
              <a:rPr lang="en-US" dirty="0"/>
              <a:t>11/10/2025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‹nr.›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kolonner med bille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680322" y="753228"/>
            <a:ext cx="9613860" cy="1080938"/>
          </a:xfrm>
        </p:spPr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0318" y="4297503"/>
            <a:ext cx="30497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0318" y="2336873"/>
            <a:ext cx="30497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da-DK"/>
              <a:t>Klik på ikonet for at tilføje et billede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0318" y="4873765"/>
            <a:ext cx="3049705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45471" y="429750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945470" y="2336873"/>
            <a:ext cx="3063240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da-DK"/>
              <a:t>Klik på ikonet for at tilføje et billede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944117" y="4873764"/>
            <a:ext cx="3067297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30678" y="4297503"/>
            <a:ext cx="30635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230677" y="2336873"/>
            <a:ext cx="30635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da-DK"/>
              <a:t>Klik på ikonet for at tilføje et billede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230553" y="4873762"/>
            <a:ext cx="3067563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BBBB78-C96F-47B7-AB17-D852CA960AC9}" type="datetimeFigureOut">
              <a:rPr lang="en-US" dirty="0"/>
              <a:t>11/10/2025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‹nr.›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og lodret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r">
              <a:defRPr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A3F48C-C7C6-4055-9F49-3777875E72AE}" type="datetimeFigureOut">
              <a:rPr lang="en-US" dirty="0"/>
              <a:t>11/10/2025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‹nr.›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ret titel og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 bwMode="ltGray">
          <a:xfrm rot="5400000">
            <a:off x="8116207" y="1869395"/>
            <a:ext cx="5106988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 rot="5400000">
            <a:off x="9868202" y="5372403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129231" y="609597"/>
            <a:ext cx="1073802" cy="4353760"/>
          </a:xfrm>
        </p:spPr>
        <p:txBody>
          <a:bodyPr vert="eaVert"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0322" y="609597"/>
            <a:ext cx="8870004" cy="5326589"/>
          </a:xfrm>
        </p:spPr>
        <p:txBody>
          <a:bodyPr vert="eaVert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807126" y="5936187"/>
            <a:ext cx="2743200" cy="365125"/>
          </a:xfrm>
        </p:spPr>
        <p:txBody>
          <a:bodyPr/>
          <a:lstStyle/>
          <a:p>
            <a:fld id="{6178E61D-D431-422C-9764-11DAFE33AB63}" type="datetimeFigureOut">
              <a:rPr lang="en-US" dirty="0"/>
              <a:t>11/10/2025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0321" y="5936188"/>
            <a:ext cx="6126805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097550" y="5398633"/>
            <a:ext cx="1154151" cy="1090789"/>
          </a:xfrm>
        </p:spPr>
        <p:txBody>
          <a:bodyPr anchor="t"/>
          <a:lstStyle>
            <a:lvl1pPr algn="ctr">
              <a:defRPr/>
            </a:lvl1pPr>
          </a:lstStyle>
          <a:p>
            <a:fld id="{6D22F896-40B5-4ADD-8801-0D06FADFA095}" type="slidenum">
              <a:rPr lang="en-US" dirty="0"/>
              <a:pPr/>
              <a:t>‹nr.›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ashOverlay-FullResolve.png"/>
          <p:cNvPicPr>
            <a:picLocks noChangeAspect="1"/>
          </p:cNvPicPr>
          <p:nvPr/>
        </p:nvPicPr>
        <p:blipFill>
          <a:blip r:embed="rId19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0321" y="753228"/>
            <a:ext cx="9613861" cy="10809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1" y="2336873"/>
            <a:ext cx="9613861" cy="35993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0981" y="593618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6E9DEC-419B-4CC5-A080-3B06BD5A8291}" type="datetimeFigureOut">
              <a:rPr lang="en-US" dirty="0"/>
              <a:t>11/10/2025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0321" y="5936188"/>
            <a:ext cx="68706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29455" y="753227"/>
            <a:ext cx="1154151" cy="10907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‹nr.›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878576B-7C51-508C-D78E-DE1679EFCE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2452" y="2645764"/>
            <a:ext cx="8752004" cy="1558977"/>
          </a:xfrm>
        </p:spPr>
        <p:txBody>
          <a:bodyPr anchor="ctr"/>
          <a:lstStyle/>
          <a:p>
            <a:r>
              <a:rPr lang="da-DK" dirty="0"/>
              <a:t>SUNHEDSPLATFORMEN</a:t>
            </a:r>
            <a:endParaRPr lang="en-US" dirty="0"/>
          </a:p>
        </p:txBody>
      </p:sp>
      <p:sp>
        <p:nvSpPr>
          <p:cNvPr id="4" name="Titel 1">
            <a:extLst>
              <a:ext uri="{FF2B5EF4-FFF2-40B4-BE49-F238E27FC236}">
                <a16:creationId xmlns:a16="http://schemas.microsoft.com/office/drawing/2014/main" id="{57E553BF-1F26-345D-17EA-422C8AF581F8}"/>
              </a:ext>
            </a:extLst>
          </p:cNvPr>
          <p:cNvSpPr txBox="1">
            <a:spLocks/>
          </p:cNvSpPr>
          <p:nvPr/>
        </p:nvSpPr>
        <p:spPr>
          <a:xfrm>
            <a:off x="9241436" y="2645764"/>
            <a:ext cx="2878112" cy="155897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da-DK" dirty="0">
                <a:solidFill>
                  <a:schemeClr val="bg1"/>
                </a:solidFill>
              </a:rPr>
              <a:t>SP</a:t>
            </a: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579381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circle/>
      </p:transition>
    </mc:Choice>
    <mc:Fallback xmlns="">
      <p:transition spd="slow">
        <p:circl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3F7D497A-2ACA-20D1-2BFB-14313B19C3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4872" y="4631961"/>
            <a:ext cx="10099309" cy="1191718"/>
          </a:xfrm>
        </p:spPr>
        <p:txBody>
          <a:bodyPr numCol="1" anchor="ctr">
            <a:normAutofit/>
          </a:bodyPr>
          <a:lstStyle/>
          <a:p>
            <a:r>
              <a:rPr lang="da-DK" sz="4000" dirty="0"/>
              <a:t>Eksempel på Sundhedsplatformen UI</a:t>
            </a:r>
            <a:endParaRPr lang="en-US" sz="4000" dirty="0"/>
          </a:p>
        </p:txBody>
      </p:sp>
      <p:pic>
        <p:nvPicPr>
          <p:cNvPr id="9" name="Billede 8">
            <a:extLst>
              <a:ext uri="{FF2B5EF4-FFF2-40B4-BE49-F238E27FC236}">
                <a16:creationId xmlns:a16="http://schemas.microsoft.com/office/drawing/2014/main" id="{DC72E8F3-0C12-AC89-CC08-9C2B8BA944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5971" y="49823"/>
            <a:ext cx="7947596" cy="4468495"/>
          </a:xfrm>
          <a:prstGeom prst="rect">
            <a:avLst/>
          </a:prstGeom>
          <a:ln>
            <a:solidFill>
              <a:schemeClr val="bg1"/>
            </a:solidFill>
          </a:ln>
        </p:spPr>
      </p:pic>
    </p:spTree>
    <p:extLst>
      <p:ext uri="{BB962C8B-B14F-4D97-AF65-F5344CB8AC3E}">
        <p14:creationId xmlns:p14="http://schemas.microsoft.com/office/powerpoint/2010/main" val="426934988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>
        <p14:flash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E478B63-FBC4-0CA4-2E37-47F92CABE1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a-DK" sz="5400" dirty="0"/>
              <a:t>Leverandør</a:t>
            </a:r>
            <a:endParaRPr lang="en-US" sz="5400" dirty="0"/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0AD3F7A8-76B3-9D87-A84D-72F4B635BF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a-DK" dirty="0" err="1"/>
              <a:t>Epic</a:t>
            </a:r>
            <a:r>
              <a:rPr lang="da-DK" dirty="0"/>
              <a:t> Systems Corporation.</a:t>
            </a:r>
            <a:endParaRPr lang="en-US" dirty="0"/>
          </a:p>
          <a:p>
            <a:r>
              <a:rPr lang="da-DK" dirty="0"/>
              <a:t>Leverandør af patientjournals-/EPJ systemer globalt.</a:t>
            </a:r>
          </a:p>
          <a:p>
            <a:r>
              <a:rPr lang="da-DK" dirty="0"/>
              <a:t>Blev udvalgt af Region Hovedstaden og Sjælland til at levere et system i 2013.</a:t>
            </a:r>
          </a:p>
          <a:p>
            <a:r>
              <a:rPr lang="da-DK" dirty="0"/>
              <a:t>Er kendt for at være markedsleder inden for større EPJ-systemer, med mange hospitaler som kunder.</a:t>
            </a:r>
          </a:p>
        </p:txBody>
      </p:sp>
    </p:spTree>
    <p:extLst>
      <p:ext uri="{BB962C8B-B14F-4D97-AF65-F5344CB8AC3E}">
        <p14:creationId xmlns:p14="http://schemas.microsoft.com/office/powerpoint/2010/main" val="21371608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flash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7A53D71-DEE0-1867-D01C-A39E436A36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a-DK" sz="5400" dirty="0"/>
              <a:t>Projektet</a:t>
            </a:r>
            <a:endParaRPr lang="en-US" sz="5400" dirty="0"/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D3B95F89-9F5B-20AC-2DDA-A3281584E3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a-DK" dirty="0"/>
              <a:t>Sundhedsplatformen</a:t>
            </a:r>
          </a:p>
          <a:p>
            <a:r>
              <a:rPr lang="da-DK" dirty="0"/>
              <a:t>Et samlet moderne system</a:t>
            </a:r>
          </a:p>
          <a:p>
            <a:r>
              <a:rPr lang="da-DK" dirty="0"/>
              <a:t>Udrulning</a:t>
            </a:r>
          </a:p>
          <a:p>
            <a:r>
              <a:rPr lang="da-DK" dirty="0"/>
              <a:t>Min Sundhedsplatform</a:t>
            </a:r>
          </a:p>
        </p:txBody>
      </p:sp>
    </p:spTree>
    <p:extLst>
      <p:ext uri="{BB962C8B-B14F-4D97-AF65-F5344CB8AC3E}">
        <p14:creationId xmlns:p14="http://schemas.microsoft.com/office/powerpoint/2010/main" val="14725357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flash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E9C9FA0-3F15-09BB-555A-B5073CED8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a-DK" sz="5400" dirty="0"/>
              <a:t>Hvad gik der galt?</a:t>
            </a:r>
            <a:endParaRPr lang="en-US" sz="5400" dirty="0"/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8E5EA282-3915-95F0-73A8-68BC4FE67B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a-DK" dirty="0"/>
              <a:t>Tabt aktivitet, fx færre patienter.</a:t>
            </a:r>
          </a:p>
          <a:p>
            <a:r>
              <a:rPr lang="da-DK" dirty="0"/>
              <a:t>Brugervenlighed ikke testet før udrulning.</a:t>
            </a:r>
          </a:p>
          <a:p>
            <a:r>
              <a:rPr lang="da-DK" dirty="0"/>
              <a:t>Risiko for patientsikkerhed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57995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flash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A83ACE-2056-2E78-B41C-CD47A03922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a-DK" sz="5400" dirty="0"/>
              <a:t>Omkostninger og Status</a:t>
            </a:r>
            <a:endParaRPr lang="en-US" sz="5400" dirty="0"/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A01C3D95-DE4C-5618-78C1-F985599E44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321" y="2336872"/>
            <a:ext cx="9685377" cy="4221325"/>
          </a:xfrm>
        </p:spPr>
        <p:txBody>
          <a:bodyPr>
            <a:normAutofit lnSpcReduction="10000"/>
          </a:bodyPr>
          <a:lstStyle/>
          <a:p>
            <a:r>
              <a:rPr lang="da-DK" dirty="0"/>
              <a:t>Danmarkshistoriens største sundheds-IT projekt</a:t>
            </a:r>
          </a:p>
          <a:p>
            <a:r>
              <a:rPr lang="en-US" dirty="0" err="1"/>
              <a:t>Investeringsniveau</a:t>
            </a:r>
            <a:r>
              <a:rPr lang="en-US" dirty="0"/>
              <a:t> </a:t>
            </a:r>
            <a:r>
              <a:rPr lang="en-US" dirty="0" err="1"/>
              <a:t>på</a:t>
            </a:r>
            <a:r>
              <a:rPr lang="en-US" dirty="0"/>
              <a:t> 3 mia. Kr.</a:t>
            </a:r>
          </a:p>
          <a:p>
            <a:endParaRPr lang="en-US" dirty="0"/>
          </a:p>
          <a:p>
            <a:r>
              <a:rPr lang="en-US" dirty="0"/>
              <a:t>Ekstra </a:t>
            </a:r>
            <a:r>
              <a:rPr lang="en-US" dirty="0" err="1"/>
              <a:t>udgifter</a:t>
            </a:r>
            <a:r>
              <a:rPr lang="en-US" dirty="0"/>
              <a:t> for over 100 </a:t>
            </a:r>
            <a:r>
              <a:rPr lang="en-US" dirty="0" err="1"/>
              <a:t>mio</a:t>
            </a:r>
            <a:r>
              <a:rPr lang="en-US" dirty="0"/>
              <a:t> </a:t>
            </a:r>
            <a:r>
              <a:rPr lang="en-US" dirty="0" err="1"/>
              <a:t>kr</a:t>
            </a:r>
            <a:r>
              <a:rPr lang="en-US" dirty="0"/>
              <a:t> de </a:t>
            </a:r>
            <a:r>
              <a:rPr lang="en-US" dirty="0" err="1"/>
              <a:t>første</a:t>
            </a:r>
            <a:r>
              <a:rPr lang="en-US" dirty="0"/>
              <a:t> 3 </a:t>
            </a:r>
            <a:r>
              <a:rPr lang="en-US" dirty="0" err="1"/>
              <a:t>måneder</a:t>
            </a:r>
            <a:r>
              <a:rPr lang="en-US" dirty="0"/>
              <a:t>, </a:t>
            </a:r>
            <a:r>
              <a:rPr lang="en-US" dirty="0" err="1"/>
              <a:t>eller</a:t>
            </a:r>
            <a:r>
              <a:rPr lang="en-US" dirty="0"/>
              <a:t> det </a:t>
            </a:r>
            <a:r>
              <a:rPr lang="en-US" dirty="0" err="1"/>
              <a:t>samme</a:t>
            </a:r>
            <a:r>
              <a:rPr lang="en-US" dirty="0"/>
              <a:t> </a:t>
            </a:r>
            <a:r>
              <a:rPr lang="en-US" dirty="0" err="1"/>
              <a:t>som</a:t>
            </a:r>
            <a:r>
              <a:rPr lang="en-US" dirty="0"/>
              <a:t> 1 </a:t>
            </a:r>
            <a:r>
              <a:rPr lang="en-US" dirty="0" err="1"/>
              <a:t>mio</a:t>
            </a:r>
            <a:r>
              <a:rPr lang="en-US" dirty="0"/>
              <a:t>. Kr </a:t>
            </a:r>
            <a:r>
              <a:rPr lang="en-US" dirty="0" err="1"/>
              <a:t>pr.dag</a:t>
            </a:r>
            <a:endParaRPr lang="en-US" dirty="0"/>
          </a:p>
          <a:p>
            <a:endParaRPr lang="en-US" dirty="0"/>
          </a:p>
          <a:p>
            <a:r>
              <a:rPr lang="en-US" dirty="0"/>
              <a:t>Det </a:t>
            </a:r>
            <a:r>
              <a:rPr lang="en-US" dirty="0" err="1"/>
              <a:t>vil</a:t>
            </a:r>
            <a:r>
              <a:rPr lang="en-US" dirty="0"/>
              <a:t> </a:t>
            </a:r>
            <a:r>
              <a:rPr lang="en-US" dirty="0" err="1"/>
              <a:t>koste</a:t>
            </a:r>
            <a:r>
              <a:rPr lang="en-US" dirty="0"/>
              <a:t> </a:t>
            </a:r>
            <a:r>
              <a:rPr lang="en-US" dirty="0" err="1"/>
              <a:t>mellem</a:t>
            </a:r>
            <a:r>
              <a:rPr lang="en-US" dirty="0"/>
              <a:t> 4-5 mia. Kr at </a:t>
            </a:r>
            <a:r>
              <a:rPr lang="en-US" dirty="0" err="1"/>
              <a:t>udskifte</a:t>
            </a:r>
            <a:r>
              <a:rPr lang="en-US" dirty="0"/>
              <a:t> SP med et </a:t>
            </a:r>
            <a:r>
              <a:rPr lang="en-US" dirty="0" err="1"/>
              <a:t>andet</a:t>
            </a:r>
            <a:r>
              <a:rPr lang="en-US" dirty="0"/>
              <a:t> system </a:t>
            </a:r>
            <a:r>
              <a:rPr lang="en-US" dirty="0" err="1"/>
              <a:t>hvis</a:t>
            </a:r>
            <a:r>
              <a:rPr lang="en-US" dirty="0"/>
              <a:t> det </a:t>
            </a:r>
            <a:r>
              <a:rPr lang="en-US" dirty="0" err="1"/>
              <a:t>bliver</a:t>
            </a:r>
            <a:r>
              <a:rPr lang="en-US" dirty="0"/>
              <a:t> </a:t>
            </a:r>
            <a:r>
              <a:rPr lang="en-US" dirty="0" err="1"/>
              <a:t>besluttet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Systemet</a:t>
            </a:r>
            <a:r>
              <a:rPr lang="en-US" dirty="0"/>
              <a:t> </a:t>
            </a:r>
            <a:r>
              <a:rPr lang="en-US" dirty="0" err="1"/>
              <a:t>kører</a:t>
            </a:r>
            <a:r>
              <a:rPr lang="en-US" dirty="0"/>
              <a:t> </a:t>
            </a:r>
            <a:r>
              <a:rPr lang="en-US" dirty="0" err="1"/>
              <a:t>forsat</a:t>
            </a:r>
            <a:r>
              <a:rPr lang="en-US" dirty="0"/>
              <a:t> </a:t>
            </a:r>
            <a:r>
              <a:rPr lang="en-US" dirty="0" err="1"/>
              <a:t>og</a:t>
            </a:r>
            <a:r>
              <a:rPr lang="en-US" dirty="0"/>
              <a:t> det </a:t>
            </a:r>
            <a:r>
              <a:rPr lang="en-US" dirty="0" err="1"/>
              <a:t>bliver</a:t>
            </a:r>
            <a:r>
              <a:rPr lang="en-US" dirty="0"/>
              <a:t> </a:t>
            </a:r>
            <a:r>
              <a:rPr lang="en-US" dirty="0" err="1"/>
              <a:t>løbende</a:t>
            </a:r>
            <a:r>
              <a:rPr lang="en-US" dirty="0"/>
              <a:t> </a:t>
            </a:r>
            <a:r>
              <a:rPr lang="en-US" dirty="0" err="1"/>
              <a:t>forbedret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743570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flash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theme/theme1.xml><?xml version="1.0" encoding="utf-8"?>
<a:theme xmlns:a="http://schemas.openxmlformats.org/drawingml/2006/main" name="Berlin">
  <a:themeElements>
    <a:clrScheme name="Berlin">
      <a:dk1>
        <a:sysClr val="windowText" lastClr="000000"/>
      </a:dk1>
      <a:lt1>
        <a:sysClr val="window" lastClr="FFFFFF"/>
      </a:lt1>
      <a:dk2>
        <a:srgbClr val="9D360E"/>
      </a:dk2>
      <a:lt2>
        <a:srgbClr val="E7E6E6"/>
      </a:lt2>
      <a:accent1>
        <a:srgbClr val="F09415"/>
      </a:accent1>
      <a:accent2>
        <a:srgbClr val="C1B56B"/>
      </a:accent2>
      <a:accent3>
        <a:srgbClr val="4BAF73"/>
      </a:accent3>
      <a:accent4>
        <a:srgbClr val="5AA6C0"/>
      </a:accent4>
      <a:accent5>
        <a:srgbClr val="D17DF9"/>
      </a:accent5>
      <a:accent6>
        <a:srgbClr val="FA7E5C"/>
      </a:accent6>
      <a:hlink>
        <a:srgbClr val="FFAE3E"/>
      </a:hlink>
      <a:folHlink>
        <a:srgbClr val="FCC77E"/>
      </a:folHlink>
    </a:clrScheme>
    <a:fontScheme name="Berlin">
      <a:maj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erlin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0000"/>
                <a:lumMod val="11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6000"/>
                <a:shade val="100000"/>
                <a:hueMod val="270000"/>
                <a:satMod val="200000"/>
                <a:lumMod val="128000"/>
              </a:schemeClr>
            </a:gs>
            <a:gs pos="50000">
              <a:schemeClr val="phClr">
                <a:shade val="100000"/>
                <a:hueMod val="100000"/>
                <a:satMod val="110000"/>
                <a:lumMod val="130000"/>
              </a:schemeClr>
            </a:gs>
            <a:gs pos="100000">
              <a:schemeClr val="phClr">
                <a:shade val="78000"/>
                <a:hueMod val="44000"/>
                <a:satMod val="200000"/>
                <a:lumMod val="69000"/>
              </a:schemeClr>
            </a:gs>
          </a:gsLst>
          <a:lin ang="252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erlin" id="{7B5DBA9E-B069-418E-9360-A61BDD0615A4}" vid="{C0CBE056-4EF4-4D92-969E-947779DA7AAA}"/>
    </a:ext>
  </a:extLst>
</a:theme>
</file>

<file path=ppt/theme/theme2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6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64B7934A-09AD-475C-A0E0-4CDAF1232968}">
  <we:reference id="WA200005669" version="2.0.0.0" store="Omex" storeType="OMEX"/>
  <we:alternateReferences>
    <we:reference id="WA200005669" version="2.0.0.0" store="WA200005669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{0EA851A4-5C44-4AED-B5E9-9634CEAC824F}TF6e1c0bd6-43b7-4cba-aa12-42a644606054c9b78bf9-d218b69a002d</Template>
  <TotalTime>53</TotalTime>
  <Words>367</Words>
  <Application>Microsoft Office PowerPoint</Application>
  <PresentationFormat>Widescreen</PresentationFormat>
  <Paragraphs>43</Paragraphs>
  <Slides>6</Slides>
  <Notes>4</Notes>
  <HiddenSlides>0</HiddenSlides>
  <MMClips>0</MMClips>
  <ScaleCrop>false</ScaleCrop>
  <HeadingPairs>
    <vt:vector size="6" baseType="variant">
      <vt:variant>
        <vt:lpstr>Benyttede skrifttyper</vt:lpstr>
      </vt:variant>
      <vt:variant>
        <vt:i4>3</vt:i4>
      </vt:variant>
      <vt:variant>
        <vt:lpstr>Tema</vt:lpstr>
      </vt:variant>
      <vt:variant>
        <vt:i4>1</vt:i4>
      </vt:variant>
      <vt:variant>
        <vt:lpstr>Slidetitler</vt:lpstr>
      </vt:variant>
      <vt:variant>
        <vt:i4>6</vt:i4>
      </vt:variant>
    </vt:vector>
  </HeadingPairs>
  <TitlesOfParts>
    <vt:vector size="10" baseType="lpstr">
      <vt:lpstr>Arial</vt:lpstr>
      <vt:lpstr>Calibri</vt:lpstr>
      <vt:lpstr>Trebuchet MS</vt:lpstr>
      <vt:lpstr>Berlin</vt:lpstr>
      <vt:lpstr>SUNHEDSPLATFORMEN</vt:lpstr>
      <vt:lpstr>Eksempel på Sundhedsplatformen UI</vt:lpstr>
      <vt:lpstr>Leverandør</vt:lpstr>
      <vt:lpstr>Projektet</vt:lpstr>
      <vt:lpstr>Hvad gik der galt?</vt:lpstr>
      <vt:lpstr>Omkostninger og Status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Daniel Vinther Andersen</dc:creator>
  <cp:lastModifiedBy>Daniel Vinther Andersen</cp:lastModifiedBy>
  <cp:revision>2</cp:revision>
  <dcterms:created xsi:type="dcterms:W3CDTF">2025-11-10T09:46:36Z</dcterms:created>
  <dcterms:modified xsi:type="dcterms:W3CDTF">2025-11-10T11:30:37Z</dcterms:modified>
</cp:coreProperties>
</file>