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79122" autoAdjust="0"/>
  </p:normalViewPr>
  <p:slideViewPr>
    <p:cSldViewPr snapToGrid="0">
      <p:cViewPr varScale="1">
        <p:scale>
          <a:sx n="128" d="100"/>
          <a:sy n="128" d="100"/>
        </p:scale>
        <p:origin x="142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C89D0-2288-4D83-99CF-1ADDF523A3E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D9F18-A203-444A-877C-A128830382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8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D9F18-A203-444A-877C-A128830382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06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Epic</a:t>
            </a:r>
            <a:r>
              <a:rPr lang="da-DK" dirty="0"/>
              <a:t> Systems Corporation er et amerikansk firma.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D9F18-A203-444A-877C-A128830382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13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Sundhedsplatformen – </a:t>
            </a:r>
            <a:r>
              <a:rPr lang="da-DK" dirty="0" err="1"/>
              <a:t>title</a:t>
            </a:r>
            <a:r>
              <a:rPr lang="da-DK" dirty="0"/>
              <a:t> på projektet.</a:t>
            </a:r>
          </a:p>
          <a:p>
            <a:endParaRPr lang="da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Et samlet moderne system der understøtter både kliniske og administrative arbejdsgange (medicinering, dokumentation, stuegang, booking, laboratorieprøver </a:t>
            </a:r>
            <a:r>
              <a:rPr lang="da-DK" dirty="0" err="1"/>
              <a:t>m.v</a:t>
            </a:r>
            <a:r>
              <a:rPr lang="da-DK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Udrulning sker fra Maj 2016 til November 2017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a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Min Sundhedsplatform er en patientportal hvor patienter kan følge aftaler og se prøvesvar.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D9F18-A203-444A-877C-A128830382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47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Der blev tabt aktivitet på hospitalerne efter implementeringen, fx færre patienter blev behandlet. Eksempel: På Herlev og Gentofte Hospital kostede de første tre måneder ca. 70 mio. kr. på tabt aktivitet, + 16 mio. kr. overarbejde, + 20 mio. kr. ekstra it-udstyr.</a:t>
            </a:r>
          </a:p>
          <a:p>
            <a:endParaRPr lang="da-DK" dirty="0"/>
          </a:p>
          <a:p>
            <a:r>
              <a:rPr lang="da-DK" dirty="0"/>
              <a:t>Brugervenlighed og arbejdsgangene var ikke tilstrækkeligt tilpassede eller testede før udrulning: systemet krævede mange klik, var tungt for brugerne, og uddannelsen var utilstrækkelig. </a:t>
            </a:r>
          </a:p>
          <a:p>
            <a:endParaRPr lang="da-DK" dirty="0"/>
          </a:p>
          <a:p>
            <a:r>
              <a:rPr lang="da-DK" dirty="0"/>
              <a:t>Fejl i medicinmodulet og dataoverførsel til/fra Fælles Medicin Kort</a:t>
            </a:r>
            <a:br>
              <a:rPr lang="da-DK" dirty="0"/>
            </a:br>
            <a:r>
              <a:rPr lang="da-DK" dirty="0"/>
              <a:t>Et eksempel: Et kodemodul i SP medførte, at en patient fik ordination “8 tablet­ter én gang ugentligt” vist korrekt i SP, men i FMK-fritekstfeltet stod “8 tabletter morgen mandag hver uge 8 tabletter morgen torsdag hver uge”. Det var ifølge regionens egne oplysninger en systemopsætning i SP, der var årsag.</a:t>
            </a:r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D9F18-A203-444A-877C-A128830382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5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78576B-7C51-508C-D78E-DE1679EFC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452" y="2645764"/>
            <a:ext cx="8752004" cy="1558977"/>
          </a:xfrm>
        </p:spPr>
        <p:txBody>
          <a:bodyPr anchor="ctr"/>
          <a:lstStyle/>
          <a:p>
            <a:r>
              <a:rPr lang="da-DK" dirty="0"/>
              <a:t>SUNHEDSPLATFORMEN</a:t>
            </a: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7E553BF-1F26-345D-17EA-422C8AF581F8}"/>
              </a:ext>
            </a:extLst>
          </p:cNvPr>
          <p:cNvSpPr txBox="1">
            <a:spLocks/>
          </p:cNvSpPr>
          <p:nvPr/>
        </p:nvSpPr>
        <p:spPr>
          <a:xfrm>
            <a:off x="9241436" y="2645764"/>
            <a:ext cx="2878112" cy="1558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a-DK" dirty="0">
                <a:solidFill>
                  <a:schemeClr val="bg1"/>
                </a:solidFill>
              </a:rPr>
              <a:t>SP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938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78B63-FBC4-0CA4-2E37-47F92CAB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5400" dirty="0"/>
              <a:t>Leverandør</a:t>
            </a:r>
            <a:endParaRPr lang="en-US" sz="54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AD3F7A8-76B3-9D87-A84D-72F4B635B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Epic</a:t>
            </a:r>
            <a:r>
              <a:rPr lang="da-DK" dirty="0"/>
              <a:t> Systems Corporation.</a:t>
            </a:r>
            <a:endParaRPr lang="en-US" dirty="0"/>
          </a:p>
          <a:p>
            <a:r>
              <a:rPr lang="da-DK" dirty="0"/>
              <a:t>Leverandør af patientjournals-/EPJ systemer globalt.</a:t>
            </a:r>
          </a:p>
          <a:p>
            <a:r>
              <a:rPr lang="da-DK" dirty="0"/>
              <a:t>Blev udvalgt af Region Hovedstaden og Sjælland til at levere et system i 2013.</a:t>
            </a:r>
          </a:p>
          <a:p>
            <a:r>
              <a:rPr lang="da-DK" dirty="0"/>
              <a:t>Er kendt for at være markedsleder inden for større EPJ-systemer, med mange hospitaler som kunder.</a:t>
            </a:r>
          </a:p>
        </p:txBody>
      </p:sp>
    </p:spTree>
    <p:extLst>
      <p:ext uri="{BB962C8B-B14F-4D97-AF65-F5344CB8AC3E}">
        <p14:creationId xmlns:p14="http://schemas.microsoft.com/office/powerpoint/2010/main" val="2137160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A53D71-DEE0-1867-D01C-A39E436A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5400" dirty="0"/>
              <a:t>Projektet</a:t>
            </a:r>
            <a:endParaRPr lang="en-US" sz="54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3B95F89-9F5B-20AC-2DDA-A3281584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Sundhedsplatformen</a:t>
            </a:r>
          </a:p>
          <a:p>
            <a:r>
              <a:rPr lang="da-DK" dirty="0"/>
              <a:t>Et samlet moderne system</a:t>
            </a:r>
          </a:p>
          <a:p>
            <a:r>
              <a:rPr lang="da-DK" dirty="0"/>
              <a:t>Udrulning</a:t>
            </a:r>
          </a:p>
          <a:p>
            <a:r>
              <a:rPr lang="da-DK" dirty="0"/>
              <a:t>Min Sundhedsplatform</a:t>
            </a:r>
          </a:p>
        </p:txBody>
      </p:sp>
    </p:spTree>
    <p:extLst>
      <p:ext uri="{BB962C8B-B14F-4D97-AF65-F5344CB8AC3E}">
        <p14:creationId xmlns:p14="http://schemas.microsoft.com/office/powerpoint/2010/main" val="1472535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C9FA0-3F15-09BB-555A-B5073CED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5400" dirty="0"/>
              <a:t>Hvad gik der galt?</a:t>
            </a:r>
            <a:endParaRPr lang="en-US" sz="54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E5EA282-3915-95F0-73A8-68BC4FE67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Tabt aktivitet, fx færre patienter.</a:t>
            </a:r>
          </a:p>
          <a:p>
            <a:r>
              <a:rPr lang="da-DK" dirty="0"/>
              <a:t>Brugervenlighed ikke testet før udrulning.</a:t>
            </a:r>
          </a:p>
          <a:p>
            <a:r>
              <a:rPr lang="da-DK" dirty="0"/>
              <a:t>Risiko for patientsikkerhed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799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A83ACE-2056-2E78-B41C-CD47A039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5400" dirty="0"/>
              <a:t>Omkostninger og Status</a:t>
            </a:r>
            <a:endParaRPr lang="en-US" sz="54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01C3D95-DE4C-5618-78C1-F985599E4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85377" cy="4221325"/>
          </a:xfrm>
        </p:spPr>
        <p:txBody>
          <a:bodyPr>
            <a:normAutofit lnSpcReduction="10000"/>
          </a:bodyPr>
          <a:lstStyle/>
          <a:p>
            <a:r>
              <a:rPr lang="da-DK" dirty="0"/>
              <a:t>Danmarkshistoriens største sundheds-IT projekt</a:t>
            </a:r>
          </a:p>
          <a:p>
            <a:r>
              <a:rPr lang="en-US" dirty="0" err="1"/>
              <a:t>Investeringsniveau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3 mia. Kr.</a:t>
            </a:r>
          </a:p>
          <a:p>
            <a:endParaRPr lang="en-US" dirty="0"/>
          </a:p>
          <a:p>
            <a:r>
              <a:rPr lang="en-US" dirty="0"/>
              <a:t>Ekstra </a:t>
            </a:r>
            <a:r>
              <a:rPr lang="en-US" dirty="0" err="1"/>
              <a:t>udgifter</a:t>
            </a:r>
            <a:r>
              <a:rPr lang="en-US" dirty="0"/>
              <a:t> for over 100 </a:t>
            </a:r>
            <a:r>
              <a:rPr lang="en-US" dirty="0" err="1"/>
              <a:t>mio</a:t>
            </a:r>
            <a:r>
              <a:rPr lang="en-US" dirty="0"/>
              <a:t> </a:t>
            </a:r>
            <a:r>
              <a:rPr lang="en-US" dirty="0" err="1"/>
              <a:t>kr</a:t>
            </a:r>
            <a:r>
              <a:rPr lang="en-US" dirty="0"/>
              <a:t> de </a:t>
            </a:r>
            <a:r>
              <a:rPr lang="en-US" dirty="0" err="1"/>
              <a:t>første</a:t>
            </a:r>
            <a:r>
              <a:rPr lang="en-US" dirty="0"/>
              <a:t> 3 </a:t>
            </a:r>
            <a:r>
              <a:rPr lang="en-US" dirty="0" err="1"/>
              <a:t>måneder</a:t>
            </a:r>
            <a:r>
              <a:rPr lang="en-US" dirty="0"/>
              <a:t>, </a:t>
            </a:r>
            <a:r>
              <a:rPr lang="en-US" dirty="0" err="1"/>
              <a:t>eller</a:t>
            </a:r>
            <a:r>
              <a:rPr lang="en-US" dirty="0"/>
              <a:t> det </a:t>
            </a:r>
            <a:r>
              <a:rPr lang="en-US" dirty="0" err="1"/>
              <a:t>samme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1 </a:t>
            </a:r>
            <a:r>
              <a:rPr lang="en-US" dirty="0" err="1"/>
              <a:t>mio</a:t>
            </a:r>
            <a:r>
              <a:rPr lang="en-US" dirty="0"/>
              <a:t>. Kr </a:t>
            </a:r>
            <a:r>
              <a:rPr lang="en-US" dirty="0" err="1"/>
              <a:t>pr.dag</a:t>
            </a:r>
            <a:endParaRPr lang="en-US" dirty="0"/>
          </a:p>
          <a:p>
            <a:endParaRPr lang="en-US" dirty="0"/>
          </a:p>
          <a:p>
            <a:r>
              <a:rPr lang="en-US" dirty="0"/>
              <a:t>Det </a:t>
            </a:r>
            <a:r>
              <a:rPr lang="en-US" dirty="0" err="1"/>
              <a:t>vil</a:t>
            </a:r>
            <a:r>
              <a:rPr lang="en-US" dirty="0"/>
              <a:t> </a:t>
            </a:r>
            <a:r>
              <a:rPr lang="en-US" dirty="0" err="1"/>
              <a:t>koste</a:t>
            </a:r>
            <a:r>
              <a:rPr lang="en-US" dirty="0"/>
              <a:t> </a:t>
            </a:r>
            <a:r>
              <a:rPr lang="en-US" dirty="0" err="1"/>
              <a:t>mellem</a:t>
            </a:r>
            <a:r>
              <a:rPr lang="en-US" dirty="0"/>
              <a:t> 4-5 mia. Kr at </a:t>
            </a:r>
            <a:r>
              <a:rPr lang="en-US" dirty="0" err="1"/>
              <a:t>udskifte</a:t>
            </a:r>
            <a:r>
              <a:rPr lang="en-US" dirty="0"/>
              <a:t> SP med et </a:t>
            </a:r>
            <a:r>
              <a:rPr lang="en-US" dirty="0" err="1"/>
              <a:t>andet</a:t>
            </a:r>
            <a:r>
              <a:rPr lang="en-US" dirty="0"/>
              <a:t> system </a:t>
            </a:r>
            <a:r>
              <a:rPr lang="en-US" dirty="0" err="1"/>
              <a:t>hvis</a:t>
            </a:r>
            <a:r>
              <a:rPr lang="en-US" dirty="0"/>
              <a:t> det </a:t>
            </a:r>
            <a:r>
              <a:rPr lang="en-US" dirty="0" err="1"/>
              <a:t>bliver</a:t>
            </a:r>
            <a:r>
              <a:rPr lang="en-US" dirty="0"/>
              <a:t> </a:t>
            </a:r>
            <a:r>
              <a:rPr lang="en-US" dirty="0" err="1"/>
              <a:t>besluttet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Systemet</a:t>
            </a:r>
            <a:r>
              <a:rPr lang="en-US" dirty="0"/>
              <a:t> </a:t>
            </a:r>
            <a:r>
              <a:rPr lang="en-US" dirty="0" err="1"/>
              <a:t>kører</a:t>
            </a:r>
            <a:r>
              <a:rPr lang="en-US" dirty="0"/>
              <a:t> </a:t>
            </a:r>
            <a:r>
              <a:rPr lang="en-US" dirty="0" err="1"/>
              <a:t>forsat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det </a:t>
            </a:r>
            <a:r>
              <a:rPr lang="en-US" dirty="0" err="1"/>
              <a:t>bliver</a:t>
            </a:r>
            <a:r>
              <a:rPr lang="en-US" dirty="0"/>
              <a:t> </a:t>
            </a:r>
            <a:r>
              <a:rPr lang="en-US" dirty="0" err="1"/>
              <a:t>løbende</a:t>
            </a:r>
            <a:r>
              <a:rPr lang="en-US" dirty="0"/>
              <a:t> </a:t>
            </a:r>
            <a:r>
              <a:rPr lang="en-US" dirty="0" err="1"/>
              <a:t>forbedret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4357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{0EA851A4-5C44-4AED-B5E9-9634CEAC824F}TF6e1c0bd6-43b7-4cba-aa12-42a644606054c9b78bf9-d218b69a002d</Template>
  <TotalTime>32</TotalTime>
  <Words>363</Words>
  <Application>Microsoft Office PowerPoint</Application>
  <PresentationFormat>Widescreen</PresentationFormat>
  <Paragraphs>42</Paragraphs>
  <Slides>5</Slides>
  <Notes>4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Berlin</vt:lpstr>
      <vt:lpstr>SUNHEDSPLATFORMEN</vt:lpstr>
      <vt:lpstr>Leverandør</vt:lpstr>
      <vt:lpstr>Projektet</vt:lpstr>
      <vt:lpstr>Hvad gik der galt?</vt:lpstr>
      <vt:lpstr>Omkostninger og 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Vinther Andersen</dc:creator>
  <cp:lastModifiedBy>Daniel Vinther Andersen</cp:lastModifiedBy>
  <cp:revision>1</cp:revision>
  <dcterms:created xsi:type="dcterms:W3CDTF">2025-11-10T09:46:36Z</dcterms:created>
  <dcterms:modified xsi:type="dcterms:W3CDTF">2025-11-10T10:19:08Z</dcterms:modified>
</cp:coreProperties>
</file>