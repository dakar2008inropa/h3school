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2" r:id="rId4"/>
  </p:sldMasterIdLst>
  <p:notesMasterIdLst>
    <p:notesMasterId r:id="rId14"/>
  </p:notesMasterIdLst>
  <p:sldIdLst>
    <p:sldId id="260" r:id="rId5"/>
    <p:sldId id="261" r:id="rId6"/>
    <p:sldId id="262" r:id="rId7"/>
    <p:sldId id="268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74814" autoAdjust="0"/>
  </p:normalViewPr>
  <p:slideViewPr>
    <p:cSldViewPr snapToGrid="0">
      <p:cViewPr varScale="1">
        <p:scale>
          <a:sx n="112" d="100"/>
          <a:sy n="112" d="100"/>
        </p:scale>
        <p:origin x="150" y="12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26FD1A-BB45-4A1D-94E2-E14DDCA578DF}" type="doc">
      <dgm:prSet loTypeId="urn:microsoft.com/office/officeart/2005/8/layout/cycle8" loCatId="cycle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7213DC29-3E25-44A0-BB6C-EFA2DD70770C}">
      <dgm:prSet phldrT="[Tekst]" phldr="0"/>
      <dgm:spPr>
        <a:solidFill>
          <a:schemeClr val="accent5"/>
        </a:solidFill>
      </dgm:spPr>
      <dgm:t>
        <a:bodyPr/>
        <a:lstStyle/>
        <a:p>
          <a:r>
            <a:rPr lang="da-DK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gm:t>
    </dgm:pt>
    <dgm:pt modelId="{C074574C-84BE-46AF-898A-E8979DF0D85F}" type="parTrans" cxnId="{E55D67CD-AF4B-417D-B92C-CA5129FABA70}">
      <dgm:prSet/>
      <dgm:spPr/>
      <dgm:t>
        <a:bodyPr/>
        <a:lstStyle/>
        <a:p>
          <a:endParaRPr lang="da-DK"/>
        </a:p>
      </dgm:t>
    </dgm:pt>
    <dgm:pt modelId="{153FF86B-828F-45A5-9862-CB0CEBE72643}" type="sibTrans" cxnId="{E55D67CD-AF4B-417D-B92C-CA5129FABA70}">
      <dgm:prSet/>
      <dgm:spPr/>
      <dgm:t>
        <a:bodyPr/>
        <a:lstStyle/>
        <a:p>
          <a:endParaRPr lang="da-DK"/>
        </a:p>
      </dgm:t>
    </dgm:pt>
    <dgm:pt modelId="{8A6369DC-D2B1-408D-AAAD-BDC9171A3EF1}">
      <dgm:prSet phldrT="[Tekst]" phldr="0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da-DK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gm:t>
    </dgm:pt>
    <dgm:pt modelId="{C7D00C33-3AA3-4752-8C34-AAC0A3066E31}" type="parTrans" cxnId="{36568F2F-4032-4902-AC2A-2088BDF1AF44}">
      <dgm:prSet/>
      <dgm:spPr/>
      <dgm:t>
        <a:bodyPr/>
        <a:lstStyle/>
        <a:p>
          <a:endParaRPr lang="da-DK"/>
        </a:p>
      </dgm:t>
    </dgm:pt>
    <dgm:pt modelId="{4368E358-04A9-405B-A14C-76A4428E4904}" type="sibTrans" cxnId="{36568F2F-4032-4902-AC2A-2088BDF1AF44}">
      <dgm:prSet/>
      <dgm:spPr/>
      <dgm:t>
        <a:bodyPr/>
        <a:lstStyle/>
        <a:p>
          <a:endParaRPr lang="da-DK"/>
        </a:p>
      </dgm:t>
    </dgm:pt>
    <dgm:pt modelId="{0DA5989F-2E20-4A48-BCCC-4FE7ED058CA2}">
      <dgm:prSet phldrT="[Tekst]" phldr="0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a-DK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gm:t>
    </dgm:pt>
    <dgm:pt modelId="{34F5E66D-95BE-49D6-87FC-7089ACE0F321}" type="parTrans" cxnId="{4154971F-0FBE-492D-BAB5-908E4EBCF905}">
      <dgm:prSet/>
      <dgm:spPr/>
      <dgm:t>
        <a:bodyPr/>
        <a:lstStyle/>
        <a:p>
          <a:endParaRPr lang="da-DK"/>
        </a:p>
      </dgm:t>
    </dgm:pt>
    <dgm:pt modelId="{893899CC-8DF4-4AD8-B95A-B0CD3EED4BE8}" type="sibTrans" cxnId="{4154971F-0FBE-492D-BAB5-908E4EBCF905}">
      <dgm:prSet/>
      <dgm:spPr/>
      <dgm:t>
        <a:bodyPr/>
        <a:lstStyle/>
        <a:p>
          <a:endParaRPr lang="da-DK"/>
        </a:p>
      </dgm:t>
    </dgm:pt>
    <dgm:pt modelId="{633C841F-0A57-48D9-BC11-17213BEDBEB0}">
      <dgm:prSet phldrT="[Tekst]" phldr="0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</a:t>
          </a:r>
        </a:p>
      </dgm:t>
    </dgm:pt>
    <dgm:pt modelId="{FDFDA6A6-76A5-49CA-83DD-D1514FF242C7}" type="parTrans" cxnId="{99BDCF1C-AC1C-49E2-ABB6-DFB69E1519F3}">
      <dgm:prSet/>
      <dgm:spPr/>
      <dgm:t>
        <a:bodyPr/>
        <a:lstStyle/>
        <a:p>
          <a:endParaRPr lang="da-DK"/>
        </a:p>
      </dgm:t>
    </dgm:pt>
    <dgm:pt modelId="{E24023D8-A438-41A2-A427-6132BF474F16}" type="sibTrans" cxnId="{99BDCF1C-AC1C-49E2-ABB6-DFB69E1519F3}">
      <dgm:prSet/>
      <dgm:spPr/>
      <dgm:t>
        <a:bodyPr/>
        <a:lstStyle/>
        <a:p>
          <a:endParaRPr lang="da-DK"/>
        </a:p>
      </dgm:t>
    </dgm:pt>
    <dgm:pt modelId="{8A08C0E7-9089-4A61-99AC-29BC5F6B7E51}">
      <dgm:prSet phldrT="[Tekst]" phldr="0"/>
      <dgm:spPr>
        <a:solidFill>
          <a:schemeClr val="bg1">
            <a:lumMod val="65000"/>
            <a:lumOff val="35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da-DK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</a:t>
          </a:r>
        </a:p>
      </dgm:t>
    </dgm:pt>
    <dgm:pt modelId="{75580ABF-BF12-478B-BF9E-5D33214F1E3C}" type="parTrans" cxnId="{9FF75D34-5875-45BD-AF13-5AA47311389A}">
      <dgm:prSet/>
      <dgm:spPr/>
      <dgm:t>
        <a:bodyPr/>
        <a:lstStyle/>
        <a:p>
          <a:endParaRPr lang="da-DK"/>
        </a:p>
      </dgm:t>
    </dgm:pt>
    <dgm:pt modelId="{612FE3D8-4EC1-4B88-94A4-C7D1FD3A6434}" type="sibTrans" cxnId="{9FF75D34-5875-45BD-AF13-5AA47311389A}">
      <dgm:prSet/>
      <dgm:spPr/>
      <dgm:t>
        <a:bodyPr/>
        <a:lstStyle/>
        <a:p>
          <a:endParaRPr lang="da-DK"/>
        </a:p>
      </dgm:t>
    </dgm:pt>
    <dgm:pt modelId="{426118E1-4128-4FCD-A61C-406642753D19}" type="pres">
      <dgm:prSet presAssocID="{1026FD1A-BB45-4A1D-94E2-E14DDCA578DF}" presName="compositeShape" presStyleCnt="0">
        <dgm:presLayoutVars>
          <dgm:chMax val="7"/>
          <dgm:dir/>
          <dgm:resizeHandles val="exact"/>
        </dgm:presLayoutVars>
      </dgm:prSet>
      <dgm:spPr/>
    </dgm:pt>
    <dgm:pt modelId="{F2F55A8D-D85E-4211-9903-B1AD2450F832}" type="pres">
      <dgm:prSet presAssocID="{1026FD1A-BB45-4A1D-94E2-E14DDCA578DF}" presName="wedge1" presStyleLbl="node1" presStyleIdx="0" presStyleCnt="5"/>
      <dgm:spPr/>
    </dgm:pt>
    <dgm:pt modelId="{4B970547-E668-4194-B3AA-66E04AB010FD}" type="pres">
      <dgm:prSet presAssocID="{1026FD1A-BB45-4A1D-94E2-E14DDCA578DF}" presName="dummy1a" presStyleCnt="0"/>
      <dgm:spPr/>
    </dgm:pt>
    <dgm:pt modelId="{C5F1143B-3318-4BE0-9E91-BA0DB0820B6E}" type="pres">
      <dgm:prSet presAssocID="{1026FD1A-BB45-4A1D-94E2-E14DDCA578DF}" presName="dummy1b" presStyleCnt="0"/>
      <dgm:spPr/>
    </dgm:pt>
    <dgm:pt modelId="{427DBB7D-A31C-47E0-8210-A44FFF0C3633}" type="pres">
      <dgm:prSet presAssocID="{1026FD1A-BB45-4A1D-94E2-E14DDCA578DF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BB7F081-41D4-48F4-98BE-394E76AFF2F1}" type="pres">
      <dgm:prSet presAssocID="{1026FD1A-BB45-4A1D-94E2-E14DDCA578DF}" presName="wedge2" presStyleLbl="node1" presStyleIdx="1" presStyleCnt="5"/>
      <dgm:spPr/>
    </dgm:pt>
    <dgm:pt modelId="{DAF786CB-770F-40BD-B203-210F71727951}" type="pres">
      <dgm:prSet presAssocID="{1026FD1A-BB45-4A1D-94E2-E14DDCA578DF}" presName="dummy2a" presStyleCnt="0"/>
      <dgm:spPr/>
    </dgm:pt>
    <dgm:pt modelId="{59F4B66A-8D0E-422E-A95F-0E0A0F4F59AC}" type="pres">
      <dgm:prSet presAssocID="{1026FD1A-BB45-4A1D-94E2-E14DDCA578DF}" presName="dummy2b" presStyleCnt="0"/>
      <dgm:spPr/>
    </dgm:pt>
    <dgm:pt modelId="{68824A35-B51D-4D9A-888E-A32A3342BC5E}" type="pres">
      <dgm:prSet presAssocID="{1026FD1A-BB45-4A1D-94E2-E14DDCA578DF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663678F3-76C8-43A3-9DFC-457C2D450980}" type="pres">
      <dgm:prSet presAssocID="{1026FD1A-BB45-4A1D-94E2-E14DDCA578DF}" presName="wedge3" presStyleLbl="node1" presStyleIdx="2" presStyleCnt="5"/>
      <dgm:spPr/>
    </dgm:pt>
    <dgm:pt modelId="{133BB541-F783-4B92-A26C-3C44DDED9F33}" type="pres">
      <dgm:prSet presAssocID="{1026FD1A-BB45-4A1D-94E2-E14DDCA578DF}" presName="dummy3a" presStyleCnt="0"/>
      <dgm:spPr/>
    </dgm:pt>
    <dgm:pt modelId="{708D4281-88E6-4078-BF4E-F73E92D5ED19}" type="pres">
      <dgm:prSet presAssocID="{1026FD1A-BB45-4A1D-94E2-E14DDCA578DF}" presName="dummy3b" presStyleCnt="0"/>
      <dgm:spPr/>
    </dgm:pt>
    <dgm:pt modelId="{930D8B22-55E0-4306-8717-2F8E15073D62}" type="pres">
      <dgm:prSet presAssocID="{1026FD1A-BB45-4A1D-94E2-E14DDCA578DF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9D67389-F5AE-45CD-8C71-C8416C8D81D6}" type="pres">
      <dgm:prSet presAssocID="{1026FD1A-BB45-4A1D-94E2-E14DDCA578DF}" presName="wedge4" presStyleLbl="node1" presStyleIdx="3" presStyleCnt="5"/>
      <dgm:spPr/>
    </dgm:pt>
    <dgm:pt modelId="{01123440-4CFD-4995-92F9-F7AFC8BFE153}" type="pres">
      <dgm:prSet presAssocID="{1026FD1A-BB45-4A1D-94E2-E14DDCA578DF}" presName="dummy4a" presStyleCnt="0"/>
      <dgm:spPr/>
    </dgm:pt>
    <dgm:pt modelId="{AB1A13F5-89D9-450B-BED2-F0E07BE9BF1E}" type="pres">
      <dgm:prSet presAssocID="{1026FD1A-BB45-4A1D-94E2-E14DDCA578DF}" presName="dummy4b" presStyleCnt="0"/>
      <dgm:spPr/>
    </dgm:pt>
    <dgm:pt modelId="{D7F910D2-AF2D-4527-9190-C61DF99B4E78}" type="pres">
      <dgm:prSet presAssocID="{1026FD1A-BB45-4A1D-94E2-E14DDCA578DF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81FC746-5979-491A-9740-8AF63C4DA802}" type="pres">
      <dgm:prSet presAssocID="{1026FD1A-BB45-4A1D-94E2-E14DDCA578DF}" presName="wedge5" presStyleLbl="node1" presStyleIdx="4" presStyleCnt="5"/>
      <dgm:spPr/>
    </dgm:pt>
    <dgm:pt modelId="{47B10534-09C3-491D-B78D-8459A39EEF18}" type="pres">
      <dgm:prSet presAssocID="{1026FD1A-BB45-4A1D-94E2-E14DDCA578DF}" presName="dummy5a" presStyleCnt="0"/>
      <dgm:spPr/>
    </dgm:pt>
    <dgm:pt modelId="{ED3C2363-502B-43F7-88E7-E4A9AA485314}" type="pres">
      <dgm:prSet presAssocID="{1026FD1A-BB45-4A1D-94E2-E14DDCA578DF}" presName="dummy5b" presStyleCnt="0"/>
      <dgm:spPr/>
    </dgm:pt>
    <dgm:pt modelId="{52A5F250-F1E3-4FF6-89F1-A2F1D0887A9A}" type="pres">
      <dgm:prSet presAssocID="{1026FD1A-BB45-4A1D-94E2-E14DDCA578DF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0CD8FC95-80FB-4FD8-9EA1-8543FE448D4F}" type="pres">
      <dgm:prSet presAssocID="{153FF86B-828F-45A5-9862-CB0CEBE72643}" presName="arrowWedge1" presStyleLbl="fgSibTrans2D1" presStyleIdx="0" presStyleCnt="5"/>
      <dgm:spPr>
        <a:noFill/>
      </dgm:spPr>
    </dgm:pt>
    <dgm:pt modelId="{2CA5AB45-0286-4956-8B0E-69FFADB2D05E}" type="pres">
      <dgm:prSet presAssocID="{4368E358-04A9-405B-A14C-76A4428E4904}" presName="arrowWedge2" presStyleLbl="fgSibTrans2D1" presStyleIdx="1" presStyleCnt="5"/>
      <dgm:spPr>
        <a:noFill/>
      </dgm:spPr>
    </dgm:pt>
    <dgm:pt modelId="{34DD2156-B153-4526-AFF0-CFEA2A2CA353}" type="pres">
      <dgm:prSet presAssocID="{893899CC-8DF4-4AD8-B95A-B0CD3EED4BE8}" presName="arrowWedge3" presStyleLbl="fgSibTrans2D1" presStyleIdx="2" presStyleCnt="5"/>
      <dgm:spPr>
        <a:noFill/>
      </dgm:spPr>
    </dgm:pt>
    <dgm:pt modelId="{B109ECCA-DC6C-401C-856B-E99AF7DB3796}" type="pres">
      <dgm:prSet presAssocID="{E24023D8-A438-41A2-A427-6132BF474F16}" presName="arrowWedge4" presStyleLbl="fgSibTrans2D1" presStyleIdx="3" presStyleCnt="5"/>
      <dgm:spPr>
        <a:noFill/>
      </dgm:spPr>
    </dgm:pt>
    <dgm:pt modelId="{879A7DBD-1C96-45BB-B214-D2B9AD9A2984}" type="pres">
      <dgm:prSet presAssocID="{612FE3D8-4EC1-4B88-94A4-C7D1FD3A6434}" presName="arrowWedge5" presStyleLbl="fgSibTrans2D1" presStyleIdx="4" presStyleCnt="5"/>
      <dgm:spPr>
        <a:noFill/>
      </dgm:spPr>
    </dgm:pt>
  </dgm:ptLst>
  <dgm:cxnLst>
    <dgm:cxn modelId="{2E31EA1B-9F07-4EAC-8895-2250C4A2A80A}" type="presOf" srcId="{633C841F-0A57-48D9-BC11-17213BEDBEB0}" destId="{D7F910D2-AF2D-4527-9190-C61DF99B4E78}" srcOrd="1" destOrd="0" presId="urn:microsoft.com/office/officeart/2005/8/layout/cycle8"/>
    <dgm:cxn modelId="{99BDCF1C-AC1C-49E2-ABB6-DFB69E1519F3}" srcId="{1026FD1A-BB45-4A1D-94E2-E14DDCA578DF}" destId="{633C841F-0A57-48D9-BC11-17213BEDBEB0}" srcOrd="3" destOrd="0" parTransId="{FDFDA6A6-76A5-49CA-83DD-D1514FF242C7}" sibTransId="{E24023D8-A438-41A2-A427-6132BF474F16}"/>
    <dgm:cxn modelId="{F13FF41E-AAB3-418B-8D21-BF03F084BA47}" type="presOf" srcId="{7213DC29-3E25-44A0-BB6C-EFA2DD70770C}" destId="{427DBB7D-A31C-47E0-8210-A44FFF0C3633}" srcOrd="1" destOrd="0" presId="urn:microsoft.com/office/officeart/2005/8/layout/cycle8"/>
    <dgm:cxn modelId="{4154971F-0FBE-492D-BAB5-908E4EBCF905}" srcId="{1026FD1A-BB45-4A1D-94E2-E14DDCA578DF}" destId="{0DA5989F-2E20-4A48-BCCC-4FE7ED058CA2}" srcOrd="2" destOrd="0" parTransId="{34F5E66D-95BE-49D6-87FC-7089ACE0F321}" sibTransId="{893899CC-8DF4-4AD8-B95A-B0CD3EED4BE8}"/>
    <dgm:cxn modelId="{36568F2F-4032-4902-AC2A-2088BDF1AF44}" srcId="{1026FD1A-BB45-4A1D-94E2-E14DDCA578DF}" destId="{8A6369DC-D2B1-408D-AAAD-BDC9171A3EF1}" srcOrd="1" destOrd="0" parTransId="{C7D00C33-3AA3-4752-8C34-AAC0A3066E31}" sibTransId="{4368E358-04A9-405B-A14C-76A4428E4904}"/>
    <dgm:cxn modelId="{2AFC8C32-2171-4D28-8076-303D38017982}" type="presOf" srcId="{8A6369DC-D2B1-408D-AAAD-BDC9171A3EF1}" destId="{68824A35-B51D-4D9A-888E-A32A3342BC5E}" srcOrd="1" destOrd="0" presId="urn:microsoft.com/office/officeart/2005/8/layout/cycle8"/>
    <dgm:cxn modelId="{9FF75D34-5875-45BD-AF13-5AA47311389A}" srcId="{1026FD1A-BB45-4A1D-94E2-E14DDCA578DF}" destId="{8A08C0E7-9089-4A61-99AC-29BC5F6B7E51}" srcOrd="4" destOrd="0" parTransId="{75580ABF-BF12-478B-BF9E-5D33214F1E3C}" sibTransId="{612FE3D8-4EC1-4B88-94A4-C7D1FD3A6434}"/>
    <dgm:cxn modelId="{5A194C3E-AC86-48B3-8932-8042422DC19D}" type="presOf" srcId="{1026FD1A-BB45-4A1D-94E2-E14DDCA578DF}" destId="{426118E1-4128-4FCD-A61C-406642753D19}" srcOrd="0" destOrd="0" presId="urn:microsoft.com/office/officeart/2005/8/layout/cycle8"/>
    <dgm:cxn modelId="{4D4C3B62-D207-47B6-8A82-E45EA2EF7AA5}" type="presOf" srcId="{8A6369DC-D2B1-408D-AAAD-BDC9171A3EF1}" destId="{0BB7F081-41D4-48F4-98BE-394E76AFF2F1}" srcOrd="0" destOrd="0" presId="urn:microsoft.com/office/officeart/2005/8/layout/cycle8"/>
    <dgm:cxn modelId="{988271A4-0940-4F1C-A2AB-1C84D28CBFC8}" type="presOf" srcId="{0DA5989F-2E20-4A48-BCCC-4FE7ED058CA2}" destId="{930D8B22-55E0-4306-8717-2F8E15073D62}" srcOrd="1" destOrd="0" presId="urn:microsoft.com/office/officeart/2005/8/layout/cycle8"/>
    <dgm:cxn modelId="{3175C1B1-1BB3-4E9C-8F55-070BCAB3C691}" type="presOf" srcId="{8A08C0E7-9089-4A61-99AC-29BC5F6B7E51}" destId="{881FC746-5979-491A-9740-8AF63C4DA802}" srcOrd="0" destOrd="0" presId="urn:microsoft.com/office/officeart/2005/8/layout/cycle8"/>
    <dgm:cxn modelId="{AF7744BF-FCAB-4D62-BB34-C011D93A4C9E}" type="presOf" srcId="{7213DC29-3E25-44A0-BB6C-EFA2DD70770C}" destId="{F2F55A8D-D85E-4211-9903-B1AD2450F832}" srcOrd="0" destOrd="0" presId="urn:microsoft.com/office/officeart/2005/8/layout/cycle8"/>
    <dgm:cxn modelId="{E55D67CD-AF4B-417D-B92C-CA5129FABA70}" srcId="{1026FD1A-BB45-4A1D-94E2-E14DDCA578DF}" destId="{7213DC29-3E25-44A0-BB6C-EFA2DD70770C}" srcOrd="0" destOrd="0" parTransId="{C074574C-84BE-46AF-898A-E8979DF0D85F}" sibTransId="{153FF86B-828F-45A5-9862-CB0CEBE72643}"/>
    <dgm:cxn modelId="{ACEC38D9-6558-46CE-A010-E6475F603868}" type="presOf" srcId="{633C841F-0A57-48D9-BC11-17213BEDBEB0}" destId="{E9D67389-F5AE-45CD-8C71-C8416C8D81D6}" srcOrd="0" destOrd="0" presId="urn:microsoft.com/office/officeart/2005/8/layout/cycle8"/>
    <dgm:cxn modelId="{0422FEE0-602D-4A64-ACF9-C152B93C2D2D}" type="presOf" srcId="{0DA5989F-2E20-4A48-BCCC-4FE7ED058CA2}" destId="{663678F3-76C8-43A3-9DFC-457C2D450980}" srcOrd="0" destOrd="0" presId="urn:microsoft.com/office/officeart/2005/8/layout/cycle8"/>
    <dgm:cxn modelId="{FFEEB6EF-C3C5-4C68-881F-8724DCC56444}" type="presOf" srcId="{8A08C0E7-9089-4A61-99AC-29BC5F6B7E51}" destId="{52A5F250-F1E3-4FF6-89F1-A2F1D0887A9A}" srcOrd="1" destOrd="0" presId="urn:microsoft.com/office/officeart/2005/8/layout/cycle8"/>
    <dgm:cxn modelId="{367B93AF-E103-4BB8-9FDD-FB91A99A4299}" type="presParOf" srcId="{426118E1-4128-4FCD-A61C-406642753D19}" destId="{F2F55A8D-D85E-4211-9903-B1AD2450F832}" srcOrd="0" destOrd="0" presId="urn:microsoft.com/office/officeart/2005/8/layout/cycle8"/>
    <dgm:cxn modelId="{5C7E60CF-CAD1-4569-8F64-16885EED37D5}" type="presParOf" srcId="{426118E1-4128-4FCD-A61C-406642753D19}" destId="{4B970547-E668-4194-B3AA-66E04AB010FD}" srcOrd="1" destOrd="0" presId="urn:microsoft.com/office/officeart/2005/8/layout/cycle8"/>
    <dgm:cxn modelId="{4524550D-A1D9-460E-9C03-B5605D10D353}" type="presParOf" srcId="{426118E1-4128-4FCD-A61C-406642753D19}" destId="{C5F1143B-3318-4BE0-9E91-BA0DB0820B6E}" srcOrd="2" destOrd="0" presId="urn:microsoft.com/office/officeart/2005/8/layout/cycle8"/>
    <dgm:cxn modelId="{51690D2E-399A-4053-9A3D-6C1112BAE69E}" type="presParOf" srcId="{426118E1-4128-4FCD-A61C-406642753D19}" destId="{427DBB7D-A31C-47E0-8210-A44FFF0C3633}" srcOrd="3" destOrd="0" presId="urn:microsoft.com/office/officeart/2005/8/layout/cycle8"/>
    <dgm:cxn modelId="{8D9C3131-1B93-461A-8667-C4E68C439103}" type="presParOf" srcId="{426118E1-4128-4FCD-A61C-406642753D19}" destId="{0BB7F081-41D4-48F4-98BE-394E76AFF2F1}" srcOrd="4" destOrd="0" presId="urn:microsoft.com/office/officeart/2005/8/layout/cycle8"/>
    <dgm:cxn modelId="{2F12C662-F041-45A7-B0E9-524D465D3DAA}" type="presParOf" srcId="{426118E1-4128-4FCD-A61C-406642753D19}" destId="{DAF786CB-770F-40BD-B203-210F71727951}" srcOrd="5" destOrd="0" presId="urn:microsoft.com/office/officeart/2005/8/layout/cycle8"/>
    <dgm:cxn modelId="{85AAAEF2-B708-41BD-BAE0-217BC7E1CCD7}" type="presParOf" srcId="{426118E1-4128-4FCD-A61C-406642753D19}" destId="{59F4B66A-8D0E-422E-A95F-0E0A0F4F59AC}" srcOrd="6" destOrd="0" presId="urn:microsoft.com/office/officeart/2005/8/layout/cycle8"/>
    <dgm:cxn modelId="{889950C3-2A4F-4928-816C-B07AD302FB72}" type="presParOf" srcId="{426118E1-4128-4FCD-A61C-406642753D19}" destId="{68824A35-B51D-4D9A-888E-A32A3342BC5E}" srcOrd="7" destOrd="0" presId="urn:microsoft.com/office/officeart/2005/8/layout/cycle8"/>
    <dgm:cxn modelId="{D1752AAB-7041-4F4B-A001-09A760E37292}" type="presParOf" srcId="{426118E1-4128-4FCD-A61C-406642753D19}" destId="{663678F3-76C8-43A3-9DFC-457C2D450980}" srcOrd="8" destOrd="0" presId="urn:microsoft.com/office/officeart/2005/8/layout/cycle8"/>
    <dgm:cxn modelId="{8BEE0870-0C49-4F24-8E80-4DF825011D95}" type="presParOf" srcId="{426118E1-4128-4FCD-A61C-406642753D19}" destId="{133BB541-F783-4B92-A26C-3C44DDED9F33}" srcOrd="9" destOrd="0" presId="urn:microsoft.com/office/officeart/2005/8/layout/cycle8"/>
    <dgm:cxn modelId="{39D79F58-2690-47BE-A214-9A00517A90A6}" type="presParOf" srcId="{426118E1-4128-4FCD-A61C-406642753D19}" destId="{708D4281-88E6-4078-BF4E-F73E92D5ED19}" srcOrd="10" destOrd="0" presId="urn:microsoft.com/office/officeart/2005/8/layout/cycle8"/>
    <dgm:cxn modelId="{F557DB8A-D75B-4276-8861-A323BA1A4566}" type="presParOf" srcId="{426118E1-4128-4FCD-A61C-406642753D19}" destId="{930D8B22-55E0-4306-8717-2F8E15073D62}" srcOrd="11" destOrd="0" presId="urn:microsoft.com/office/officeart/2005/8/layout/cycle8"/>
    <dgm:cxn modelId="{1F19FF81-021B-49B7-AF3A-E6323CA6E43A}" type="presParOf" srcId="{426118E1-4128-4FCD-A61C-406642753D19}" destId="{E9D67389-F5AE-45CD-8C71-C8416C8D81D6}" srcOrd="12" destOrd="0" presId="urn:microsoft.com/office/officeart/2005/8/layout/cycle8"/>
    <dgm:cxn modelId="{F8B1E17B-4F3D-4466-9E48-74B6B49A2044}" type="presParOf" srcId="{426118E1-4128-4FCD-A61C-406642753D19}" destId="{01123440-4CFD-4995-92F9-F7AFC8BFE153}" srcOrd="13" destOrd="0" presId="urn:microsoft.com/office/officeart/2005/8/layout/cycle8"/>
    <dgm:cxn modelId="{9152E075-FB36-44DC-9143-A92A28BD0A7E}" type="presParOf" srcId="{426118E1-4128-4FCD-A61C-406642753D19}" destId="{AB1A13F5-89D9-450B-BED2-F0E07BE9BF1E}" srcOrd="14" destOrd="0" presId="urn:microsoft.com/office/officeart/2005/8/layout/cycle8"/>
    <dgm:cxn modelId="{9E3A5696-EC7D-4592-A273-FD91845AC3F4}" type="presParOf" srcId="{426118E1-4128-4FCD-A61C-406642753D19}" destId="{D7F910D2-AF2D-4527-9190-C61DF99B4E78}" srcOrd="15" destOrd="0" presId="urn:microsoft.com/office/officeart/2005/8/layout/cycle8"/>
    <dgm:cxn modelId="{BF272C0A-B0BF-44FE-BDAC-39AB25624B71}" type="presParOf" srcId="{426118E1-4128-4FCD-A61C-406642753D19}" destId="{881FC746-5979-491A-9740-8AF63C4DA802}" srcOrd="16" destOrd="0" presId="urn:microsoft.com/office/officeart/2005/8/layout/cycle8"/>
    <dgm:cxn modelId="{6506FC12-6AA9-49C3-A972-B333192DD088}" type="presParOf" srcId="{426118E1-4128-4FCD-A61C-406642753D19}" destId="{47B10534-09C3-491D-B78D-8459A39EEF18}" srcOrd="17" destOrd="0" presId="urn:microsoft.com/office/officeart/2005/8/layout/cycle8"/>
    <dgm:cxn modelId="{760447C5-5183-45F5-86E7-68F998335C06}" type="presParOf" srcId="{426118E1-4128-4FCD-A61C-406642753D19}" destId="{ED3C2363-502B-43F7-88E7-E4A9AA485314}" srcOrd="18" destOrd="0" presId="urn:microsoft.com/office/officeart/2005/8/layout/cycle8"/>
    <dgm:cxn modelId="{F4E90713-469A-4B3D-BEA5-2249185A8A85}" type="presParOf" srcId="{426118E1-4128-4FCD-A61C-406642753D19}" destId="{52A5F250-F1E3-4FF6-89F1-A2F1D0887A9A}" srcOrd="19" destOrd="0" presId="urn:microsoft.com/office/officeart/2005/8/layout/cycle8"/>
    <dgm:cxn modelId="{02525A49-9943-4C2B-8B58-0020C759544F}" type="presParOf" srcId="{426118E1-4128-4FCD-A61C-406642753D19}" destId="{0CD8FC95-80FB-4FD8-9EA1-8543FE448D4F}" srcOrd="20" destOrd="0" presId="urn:microsoft.com/office/officeart/2005/8/layout/cycle8"/>
    <dgm:cxn modelId="{DB916E98-7827-4039-81D8-21348F6D4F52}" type="presParOf" srcId="{426118E1-4128-4FCD-A61C-406642753D19}" destId="{2CA5AB45-0286-4956-8B0E-69FFADB2D05E}" srcOrd="21" destOrd="0" presId="urn:microsoft.com/office/officeart/2005/8/layout/cycle8"/>
    <dgm:cxn modelId="{1C605187-5E33-4C35-A0AC-4A5063D49553}" type="presParOf" srcId="{426118E1-4128-4FCD-A61C-406642753D19}" destId="{34DD2156-B153-4526-AFF0-CFEA2A2CA353}" srcOrd="22" destOrd="0" presId="urn:microsoft.com/office/officeart/2005/8/layout/cycle8"/>
    <dgm:cxn modelId="{BC177F3C-467E-4270-A76A-82AEE32C6436}" type="presParOf" srcId="{426118E1-4128-4FCD-A61C-406642753D19}" destId="{B109ECCA-DC6C-401C-856B-E99AF7DB3796}" srcOrd="23" destOrd="0" presId="urn:microsoft.com/office/officeart/2005/8/layout/cycle8"/>
    <dgm:cxn modelId="{7F9528A9-67C0-4288-AB11-89588CAB485D}" type="presParOf" srcId="{426118E1-4128-4FCD-A61C-406642753D19}" destId="{879A7DBD-1C96-45BB-B214-D2B9AD9A2984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F55A8D-D85E-4211-9903-B1AD2450F832}">
      <dsp:nvSpPr>
        <dsp:cNvPr id="0" name=""/>
        <dsp:cNvSpPr/>
      </dsp:nvSpPr>
      <dsp:spPr>
        <a:xfrm>
          <a:off x="1585535" y="375837"/>
          <a:ext cx="5100221" cy="5100221"/>
        </a:xfrm>
        <a:prstGeom prst="pie">
          <a:avLst>
            <a:gd name="adj1" fmla="val 16200000"/>
            <a:gd name="adj2" fmla="val 20520000"/>
          </a:avLst>
        </a:prstGeom>
        <a:solidFill>
          <a:schemeClr val="accent5"/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sp:txBody>
      <dsp:txXfrm>
        <a:off x="4246150" y="1233160"/>
        <a:ext cx="1639356" cy="1092904"/>
      </dsp:txXfrm>
    </dsp:sp>
    <dsp:sp modelId="{0BB7F081-41D4-48F4-98BE-394E76AFF2F1}">
      <dsp:nvSpPr>
        <dsp:cNvPr id="0" name=""/>
        <dsp:cNvSpPr/>
      </dsp:nvSpPr>
      <dsp:spPr>
        <a:xfrm>
          <a:off x="1629251" y="511843"/>
          <a:ext cx="5100221" cy="5100221"/>
        </a:xfrm>
        <a:prstGeom prst="pie">
          <a:avLst>
            <a:gd name="adj1" fmla="val 20520000"/>
            <a:gd name="adj2" fmla="val 3240000"/>
          </a:avLst>
        </a:prstGeom>
        <a:solidFill>
          <a:schemeClr val="accent4">
            <a:lumMod val="7500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sp:txBody>
      <dsp:txXfrm>
        <a:off x="4914036" y="2842159"/>
        <a:ext cx="1517923" cy="1214338"/>
      </dsp:txXfrm>
    </dsp:sp>
    <dsp:sp modelId="{663678F3-76C8-43A3-9DFC-457C2D450980}">
      <dsp:nvSpPr>
        <dsp:cNvPr id="0" name=""/>
        <dsp:cNvSpPr/>
      </dsp:nvSpPr>
      <dsp:spPr>
        <a:xfrm>
          <a:off x="1513889" y="595632"/>
          <a:ext cx="5100221" cy="5100221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lumMod val="7500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sp:txBody>
      <dsp:txXfrm>
        <a:off x="3335396" y="4177931"/>
        <a:ext cx="1457206" cy="1335772"/>
      </dsp:txXfrm>
    </dsp:sp>
    <dsp:sp modelId="{E9D67389-F5AE-45CD-8C71-C8416C8D81D6}">
      <dsp:nvSpPr>
        <dsp:cNvPr id="0" name=""/>
        <dsp:cNvSpPr/>
      </dsp:nvSpPr>
      <dsp:spPr>
        <a:xfrm>
          <a:off x="1398527" y="511843"/>
          <a:ext cx="5100221" cy="5100221"/>
        </a:xfrm>
        <a:prstGeom prst="pie">
          <a:avLst>
            <a:gd name="adj1" fmla="val 7560000"/>
            <a:gd name="adj2" fmla="val 11880000"/>
          </a:avLst>
        </a:prstGeom>
        <a:solidFill>
          <a:schemeClr val="accent6">
            <a:lumMod val="7500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</a:t>
          </a:r>
        </a:p>
      </dsp:txBody>
      <dsp:txXfrm>
        <a:off x="1696040" y="2842159"/>
        <a:ext cx="1517923" cy="1214338"/>
      </dsp:txXfrm>
    </dsp:sp>
    <dsp:sp modelId="{881FC746-5979-491A-9740-8AF63C4DA802}">
      <dsp:nvSpPr>
        <dsp:cNvPr id="0" name=""/>
        <dsp:cNvSpPr/>
      </dsp:nvSpPr>
      <dsp:spPr>
        <a:xfrm>
          <a:off x="1442243" y="375837"/>
          <a:ext cx="5100221" cy="5100221"/>
        </a:xfrm>
        <a:prstGeom prst="pie">
          <a:avLst>
            <a:gd name="adj1" fmla="val 11880000"/>
            <a:gd name="adj2" fmla="val 16200000"/>
          </a:avLst>
        </a:prstGeom>
        <a:solidFill>
          <a:schemeClr val="bg1">
            <a:lumMod val="65000"/>
            <a:lumOff val="35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</a:t>
          </a:r>
        </a:p>
      </dsp:txBody>
      <dsp:txXfrm>
        <a:off x="2242492" y="1233160"/>
        <a:ext cx="1639356" cy="1092904"/>
      </dsp:txXfrm>
    </dsp:sp>
    <dsp:sp modelId="{0CD8FC95-80FB-4FD8-9EA1-8543FE448D4F}">
      <dsp:nvSpPr>
        <dsp:cNvPr id="0" name=""/>
        <dsp:cNvSpPr/>
      </dsp:nvSpPr>
      <dsp:spPr>
        <a:xfrm>
          <a:off x="1269567" y="60109"/>
          <a:ext cx="5731677" cy="5731677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noFill/>
        <a:ln>
          <a:noFill/>
        </a:ln>
        <a:effectLst/>
        <a:sp3d z="635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A5AB45-0286-4956-8B0E-69FFADB2D05E}">
      <dsp:nvSpPr>
        <dsp:cNvPr id="0" name=""/>
        <dsp:cNvSpPr/>
      </dsp:nvSpPr>
      <dsp:spPr>
        <a:xfrm>
          <a:off x="1313875" y="196070"/>
          <a:ext cx="5731677" cy="5731677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noFill/>
        <a:ln>
          <a:noFill/>
        </a:ln>
        <a:effectLst/>
        <a:sp3d z="635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DD2156-B153-4526-AFF0-CFEA2A2CA353}">
      <dsp:nvSpPr>
        <dsp:cNvPr id="0" name=""/>
        <dsp:cNvSpPr/>
      </dsp:nvSpPr>
      <dsp:spPr>
        <a:xfrm>
          <a:off x="1198161" y="280116"/>
          <a:ext cx="5731677" cy="5731677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noFill/>
        <a:ln>
          <a:noFill/>
        </a:ln>
        <a:effectLst/>
        <a:sp3d z="635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09ECCA-DC6C-401C-856B-E99AF7DB3796}">
      <dsp:nvSpPr>
        <dsp:cNvPr id="0" name=""/>
        <dsp:cNvSpPr/>
      </dsp:nvSpPr>
      <dsp:spPr>
        <a:xfrm>
          <a:off x="1082446" y="196070"/>
          <a:ext cx="5731677" cy="5731677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noFill/>
        <a:ln>
          <a:noFill/>
        </a:ln>
        <a:effectLst/>
        <a:sp3d z="635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9A7DBD-1C96-45BB-B214-D2B9AD9A2984}">
      <dsp:nvSpPr>
        <dsp:cNvPr id="0" name=""/>
        <dsp:cNvSpPr/>
      </dsp:nvSpPr>
      <dsp:spPr>
        <a:xfrm>
          <a:off x="1126755" y="60109"/>
          <a:ext cx="5731677" cy="5731677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noFill/>
        <a:ln>
          <a:noFill/>
        </a:ln>
        <a:effectLst/>
        <a:sp3d z="635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1. Skabt af Kent Beck i slutningen af 1990’erne</a:t>
            </a:r>
            <a:br>
              <a:rPr lang="da-DK" dirty="0"/>
            </a:br>
            <a:r>
              <a:rPr lang="da-DK" dirty="0"/>
              <a:t>XP blev udviklet af Kent Beck som en ny måde at arbejde med softwareudvikling på i en tid, hvor krav ændrede sig hurtigt.</a:t>
            </a:r>
          </a:p>
          <a:p>
            <a:endParaRPr lang="da-DK" dirty="0"/>
          </a:p>
          <a:p>
            <a:r>
              <a:rPr lang="da-DK" b="1" dirty="0"/>
              <a:t>2. Reaktion på tunge og langsomme udviklingsmetoder</a:t>
            </a:r>
            <a:br>
              <a:rPr lang="da-DK" dirty="0"/>
            </a:br>
            <a:r>
              <a:rPr lang="da-DK" dirty="0"/>
              <a:t>XP opstod, fordi mange tidligere metoder tog meget lang tid og var svære at ændre, når der kom nye krav.</a:t>
            </a:r>
          </a:p>
          <a:p>
            <a:endParaRPr lang="da-DK" b="1" dirty="0"/>
          </a:p>
          <a:p>
            <a:r>
              <a:rPr lang="da-DK" b="1" dirty="0"/>
              <a:t>3. Fokus på kvalitet, fleksibilitet og tæt samarbejde</a:t>
            </a:r>
            <a:br>
              <a:rPr lang="da-DK" dirty="0"/>
            </a:br>
            <a:r>
              <a:rPr lang="da-DK" dirty="0"/>
              <a:t>Metoden prioriterer løbende forbedringer, god kommunikation mellem team og kunde samt mulighed for at ændre retning hurtigt.</a:t>
            </a:r>
          </a:p>
          <a:p>
            <a:endParaRPr lang="da-DK" b="1" dirty="0"/>
          </a:p>
          <a:p>
            <a:r>
              <a:rPr lang="da-DK" b="1" dirty="0"/>
              <a:t>4. Arbejde i små og hyppige leverancer</a:t>
            </a:r>
            <a:br>
              <a:rPr lang="da-DK" dirty="0"/>
            </a:br>
            <a:r>
              <a:rPr lang="da-DK" dirty="0"/>
              <a:t>Arbejdet opdeles i små stykker, som leveres ofte for at skabe tidlig værdi og mulighed for hurtige justeringer.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16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1. Hurtig tilpasning til nye krav</a:t>
            </a:r>
            <a:br>
              <a:rPr lang="da-DK" dirty="0"/>
            </a:br>
            <a:r>
              <a:rPr lang="da-DK" dirty="0"/>
              <a:t>XP gør det muligt at ændre retningen hurtigt, fordi arbejdet ikke er bundet i lange planer.</a:t>
            </a:r>
          </a:p>
          <a:p>
            <a:endParaRPr lang="da-DK" b="1" dirty="0"/>
          </a:p>
          <a:p>
            <a:r>
              <a:rPr lang="da-DK" b="1" dirty="0"/>
              <a:t>2. Arbejde i overskuelige dele</a:t>
            </a:r>
            <a:br>
              <a:rPr lang="da-DK" dirty="0"/>
            </a:br>
            <a:r>
              <a:rPr lang="da-DK" dirty="0"/>
              <a:t>Små arbejdsdele gør det lettere at tilføje, rette og forbedre systemet uden store omkostninger.</a:t>
            </a:r>
          </a:p>
          <a:p>
            <a:endParaRPr lang="da-DK" b="1" dirty="0"/>
          </a:p>
          <a:p>
            <a:r>
              <a:rPr lang="da-DK" b="1" dirty="0"/>
              <a:t>3. Løbende feedback</a:t>
            </a:r>
            <a:br>
              <a:rPr lang="da-DK" dirty="0"/>
            </a:br>
            <a:r>
              <a:rPr lang="da-DK" dirty="0"/>
              <a:t>Teamet får jævnligt tilbagemeldinger fra kunden og fra test, hvilket styrer, hvad der skal forbedres.</a:t>
            </a:r>
          </a:p>
          <a:p>
            <a:endParaRPr lang="da-DK" b="1" dirty="0"/>
          </a:p>
          <a:p>
            <a:r>
              <a:rPr lang="da-DK" b="1" dirty="0"/>
              <a:t>4. Fokus på kundens behov</a:t>
            </a:r>
            <a:br>
              <a:rPr lang="da-DK" dirty="0"/>
            </a:br>
            <a:r>
              <a:rPr lang="da-DK" dirty="0"/>
              <a:t>Kunden er aktiv under hele forløbet og påvirker løbende, hvad der skal bygges.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83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68D05-C490-8F5F-DCC9-8B62321D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A2F2572-B3A2-6FAA-56E6-A52E9BB11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F187924F-8821-9108-2946-62CD454D7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Kommunikation</a:t>
            </a:r>
            <a:br>
              <a:rPr lang="da-DK" dirty="0"/>
            </a:br>
            <a:r>
              <a:rPr lang="da-DK" dirty="0"/>
              <a:t>Teamet skal tale sammen hele tiden. XP fungerer ikke, hvis alle sidder i hver sin boble og gætter på, hvad der skal ske.</a:t>
            </a:r>
          </a:p>
          <a:p>
            <a:endParaRPr lang="da-DK" b="1" dirty="0"/>
          </a:p>
          <a:p>
            <a:r>
              <a:rPr lang="da-DK" b="1" dirty="0"/>
              <a:t>Simplicitet</a:t>
            </a:r>
            <a:br>
              <a:rPr lang="da-DK" dirty="0"/>
            </a:br>
            <a:r>
              <a:rPr lang="da-DK" dirty="0"/>
              <a:t>Byg den enkleste løsning, der virker. Ikke den store “en dag bliver det sikkert nyttigt”-konstruktion, som ingen kan overskue om tre måneder.</a:t>
            </a:r>
          </a:p>
          <a:p>
            <a:endParaRPr lang="da-DK" b="1" dirty="0"/>
          </a:p>
          <a:p>
            <a:r>
              <a:rPr lang="da-DK" b="1" dirty="0"/>
              <a:t>Feedback</a:t>
            </a:r>
            <a:br>
              <a:rPr lang="da-DK" dirty="0"/>
            </a:br>
            <a:r>
              <a:rPr lang="da-DK" dirty="0"/>
              <a:t>Test, kundekommentarer og teamets egne erfaringer bruges til at rette kursen løbende. Intet bliver set som færdigt og urokkeligt.</a:t>
            </a:r>
          </a:p>
          <a:p>
            <a:endParaRPr lang="da-DK" b="1" dirty="0"/>
          </a:p>
          <a:p>
            <a:r>
              <a:rPr lang="da-DK" b="1" dirty="0"/>
              <a:t>Mod</a:t>
            </a:r>
            <a:br>
              <a:rPr lang="da-DK" dirty="0"/>
            </a:br>
            <a:r>
              <a:rPr lang="da-DK" dirty="0"/>
              <a:t>Man ændrer koden, når det er nødvendigt, også selvom det betyder at smide tidligere arbejde ud. En sund kodebase er vigtigere end stolthed.</a:t>
            </a:r>
          </a:p>
          <a:p>
            <a:endParaRPr lang="da-DK" b="1" dirty="0"/>
          </a:p>
          <a:p>
            <a:r>
              <a:rPr lang="da-DK" b="1" dirty="0"/>
              <a:t>Respekt</a:t>
            </a:r>
            <a:br>
              <a:rPr lang="da-DK" dirty="0"/>
            </a:br>
            <a:r>
              <a:rPr lang="da-DK" dirty="0"/>
              <a:t>Teamet tager ansvar sammen og respekterer hinandens arbejde, tid og viden.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1F3C6C7-3B44-7FF9-9644-31FD6EF09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64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B362-B261-555B-DDDD-5998005A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0E48C68-AFD2-D299-DA38-4C0E56636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2C20C6C-13D5-6001-D204-9D1A3A0FC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1. Simple løsninger</a:t>
            </a:r>
            <a:br>
              <a:rPr lang="da-DK" dirty="0"/>
            </a:br>
            <a:r>
              <a:rPr lang="da-DK" dirty="0"/>
              <a:t>XP vælger den enkleste løsning, fordi den er lettere at ændre og vedligeholde.</a:t>
            </a:r>
          </a:p>
          <a:p>
            <a:endParaRPr lang="da-DK" b="1" dirty="0"/>
          </a:p>
          <a:p>
            <a:r>
              <a:rPr lang="da-DK" b="1" dirty="0"/>
              <a:t>2. Tæt kommunikation</a:t>
            </a:r>
            <a:br>
              <a:rPr lang="da-DK" dirty="0"/>
            </a:br>
            <a:r>
              <a:rPr lang="da-DK" dirty="0"/>
              <a:t>Daglige samtaler sikrer fælles forståelse og hurtige beslutninger.</a:t>
            </a:r>
          </a:p>
          <a:p>
            <a:endParaRPr lang="da-DK" b="1" dirty="0"/>
          </a:p>
          <a:p>
            <a:r>
              <a:rPr lang="da-DK" b="1" dirty="0"/>
              <a:t>3. Villighed til at forbedre kode</a:t>
            </a:r>
            <a:br>
              <a:rPr lang="da-DK" dirty="0"/>
            </a:br>
            <a:r>
              <a:rPr lang="da-DK" dirty="0"/>
              <a:t>Koden ændres løbende for at bevare kvalitet og stabilitet.</a:t>
            </a:r>
          </a:p>
          <a:p>
            <a:endParaRPr lang="da-DK" b="1" dirty="0"/>
          </a:p>
          <a:p>
            <a:r>
              <a:rPr lang="da-DK" b="1" dirty="0"/>
              <a:t>4. Feedback som styring</a:t>
            </a:r>
            <a:br>
              <a:rPr lang="da-DK" dirty="0"/>
            </a:br>
            <a:r>
              <a:rPr lang="da-DK" dirty="0"/>
              <a:t>Teamet bruger kundens og systemets feedback til at bestemme næste skridt.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6F31AD-B178-148A-83AE-371549942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52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47CC-0D6A-B0C5-50E7-14FD1501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4411C22-D35F-7CCC-FE17-7A200F655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4F3B3FD-13D9-B227-3C9D-BC3FD20EB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1. To udviklere arbejder sammen om koden</a:t>
            </a:r>
            <a:br>
              <a:rPr lang="da-DK" dirty="0"/>
            </a:br>
            <a:r>
              <a:rPr lang="da-DK" dirty="0"/>
              <a:t>Parprogrammering giver højere kvalitet og mere videndeling.</a:t>
            </a:r>
          </a:p>
          <a:p>
            <a:endParaRPr lang="da-DK" b="1" dirty="0"/>
          </a:p>
          <a:p>
            <a:r>
              <a:rPr lang="da-DK" b="1" dirty="0"/>
              <a:t>2. Test skrives før funktioner bygges</a:t>
            </a:r>
            <a:br>
              <a:rPr lang="da-DK" dirty="0"/>
            </a:br>
            <a:r>
              <a:rPr lang="da-DK" dirty="0"/>
              <a:t>Test før kode skaber stabile funktioner og færre fejl.</a:t>
            </a:r>
          </a:p>
          <a:p>
            <a:endParaRPr lang="da-DK" b="1" dirty="0"/>
          </a:p>
          <a:p>
            <a:r>
              <a:rPr lang="da-DK" b="1" dirty="0"/>
              <a:t>3. Koden samles og testes ofte</a:t>
            </a:r>
            <a:br>
              <a:rPr lang="da-DK" dirty="0"/>
            </a:br>
            <a:r>
              <a:rPr lang="da-DK" dirty="0"/>
              <a:t>Hyppig integration fanger problemer tidligt og reducerer risiko senere.</a:t>
            </a:r>
          </a:p>
          <a:p>
            <a:endParaRPr lang="da-DK" b="1" dirty="0"/>
          </a:p>
          <a:p>
            <a:r>
              <a:rPr lang="da-DK" b="1" dirty="0"/>
              <a:t>4. Hele teamet deler ansvar</a:t>
            </a:r>
            <a:br>
              <a:rPr lang="da-DK" dirty="0"/>
            </a:br>
            <a:r>
              <a:rPr lang="da-DK" dirty="0"/>
              <a:t>Ingen del af systemet tilhører kun én person, så arbejdet flyder bedre.</a:t>
            </a:r>
          </a:p>
          <a:p>
            <a:endParaRPr lang="da-DK" b="1" dirty="0"/>
          </a:p>
          <a:p>
            <a:r>
              <a:rPr lang="da-DK" b="1" dirty="0"/>
              <a:t>5. Leverancer frigives jævnligt</a:t>
            </a:r>
            <a:br>
              <a:rPr lang="da-DK" dirty="0"/>
            </a:br>
            <a:r>
              <a:rPr lang="da-DK" dirty="0"/>
              <a:t>Små og hyppige leverancer gør det muligt at vise fremdrift og justere i tide.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4B3DC51-9E33-EE6A-A95A-9CDB894A0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76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AA370-A1AF-3B9C-00BB-4C8C6C0B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B146966-4F55-EFFD-CE8B-427547871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192B4C0-4ED5-96A5-9473-0E8BFF48F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1. Høj kvalitet</a:t>
            </a:r>
            <a:br>
              <a:rPr lang="da-DK" dirty="0"/>
            </a:br>
            <a:r>
              <a:rPr lang="da-DK" dirty="0"/>
              <a:t>Den løbende test og forbedring af koden giver et mere stabilt system.</a:t>
            </a:r>
          </a:p>
          <a:p>
            <a:endParaRPr lang="da-DK" b="1" dirty="0"/>
          </a:p>
          <a:p>
            <a:r>
              <a:rPr lang="da-DK" b="1" dirty="0"/>
              <a:t>2. Færre fejl i produktionen</a:t>
            </a:r>
            <a:br>
              <a:rPr lang="da-DK" dirty="0"/>
            </a:br>
            <a:r>
              <a:rPr lang="da-DK" dirty="0"/>
              <a:t>Fejl bliver opdaget tidligt og rettet, før de når ud til brugerne.</a:t>
            </a:r>
          </a:p>
          <a:p>
            <a:endParaRPr lang="da-DK" b="1" dirty="0"/>
          </a:p>
          <a:p>
            <a:r>
              <a:rPr lang="da-DK" b="1" dirty="0"/>
              <a:t>3. Hurtigere levering</a:t>
            </a:r>
            <a:br>
              <a:rPr lang="da-DK" dirty="0"/>
            </a:br>
            <a:r>
              <a:rPr lang="da-DK" dirty="0"/>
              <a:t>Små leverancer betyder hurtigere værdi og hurtigere reaktion på behov.</a:t>
            </a:r>
          </a:p>
          <a:p>
            <a:endParaRPr lang="da-DK" b="1" dirty="0"/>
          </a:p>
          <a:p>
            <a:r>
              <a:rPr lang="da-DK" b="1" dirty="0"/>
              <a:t>4. Bedre overblik og styring</a:t>
            </a:r>
            <a:br>
              <a:rPr lang="da-DK" dirty="0"/>
            </a:br>
            <a:r>
              <a:rPr lang="da-DK" dirty="0"/>
              <a:t>XP skaber tydelig fremdrift og giver alle parter et klart billede af status.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9B53B09-AC2E-0B69-5B6F-AE5ED9C17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87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DBEF-6F0E-EF16-75A5-50D92C8D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D2B49A9-EFAE-4523-8EED-BDFFFAE32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73C0275-3DA1-7BBE-9378-21A59E357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1. Kræver høj disciplin</a:t>
            </a:r>
            <a:br>
              <a:rPr lang="da-DK" dirty="0"/>
            </a:br>
            <a:r>
              <a:rPr lang="da-DK" dirty="0"/>
              <a:t>Teamet skal arbejde struktureret hver dag for at få fuldt udbytte af metoden.</a:t>
            </a:r>
          </a:p>
          <a:p>
            <a:endParaRPr lang="da-DK" b="1" dirty="0"/>
          </a:p>
          <a:p>
            <a:r>
              <a:rPr lang="da-DK" b="1" dirty="0"/>
              <a:t>2. Stor afhængighed af tæt samarbejde</a:t>
            </a:r>
            <a:br>
              <a:rPr lang="da-DK" dirty="0"/>
            </a:br>
            <a:r>
              <a:rPr lang="da-DK" dirty="0"/>
              <a:t>XP fungerer dårligt, hvis kommunikationen i teamet er svag.</a:t>
            </a:r>
          </a:p>
          <a:p>
            <a:endParaRPr lang="da-DK" b="1" dirty="0"/>
          </a:p>
          <a:p>
            <a:r>
              <a:rPr lang="da-DK" b="1" dirty="0"/>
              <a:t>3. Mindre egnet til meget store projekter</a:t>
            </a:r>
            <a:br>
              <a:rPr lang="da-DK" dirty="0"/>
            </a:br>
            <a:r>
              <a:rPr lang="da-DK" dirty="0"/>
              <a:t>Store organisationer kan have svært ved at arbejde i så små leverancer.</a:t>
            </a:r>
          </a:p>
          <a:p>
            <a:endParaRPr lang="da-DK" b="1" dirty="0"/>
          </a:p>
          <a:p>
            <a:r>
              <a:rPr lang="da-DK" b="1" dirty="0"/>
              <a:t>4. Kunden skal være tilgængelig</a:t>
            </a:r>
            <a:br>
              <a:rPr lang="da-DK" dirty="0"/>
            </a:br>
            <a:r>
              <a:rPr lang="da-DK" dirty="0"/>
              <a:t>Løbende feedback kræver tid fra kunden, hvilket ikke altid er muligt.</a:t>
            </a:r>
          </a:p>
          <a:p>
            <a:endParaRPr lang="da-DK" b="1" dirty="0"/>
          </a:p>
          <a:p>
            <a:r>
              <a:rPr lang="da-DK" b="1" dirty="0"/>
              <a:t>5. Test og ændringer kan være tidskrævende</a:t>
            </a:r>
            <a:br>
              <a:rPr lang="da-DK" dirty="0"/>
            </a:br>
            <a:r>
              <a:rPr lang="da-DK" dirty="0"/>
              <a:t>Den høje mængde test og løbende forbedringer kræver ekstra indsats.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A7C47CE-BEC0-E1E2-377E-E050D9B52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742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A772-5D94-4F12-8B86-44D4FB26368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0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9F2E34D-57B0-41D5-A7AF-DF10D106811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86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97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31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0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9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6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02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 dirty="0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a-DK" dirty="0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0A0B-291C-4112-A023-023C51AB2E8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041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0A0B-291C-4112-A023-023C51AB2E8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0974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0A0B-291C-4112-A023-023C51AB2E8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23062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0A0B-291C-4112-A023-023C51AB2E8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3120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0A0B-291C-4112-A023-023C51AB2E8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205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 dirty="0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 dirty="0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 dirty="0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0A0B-291C-4112-A023-023C51AB2E8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213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632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4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 dirty="0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F0A0B-291C-4112-A023-023C51AB2E8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2765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icrosoft Windows XP Startup - QuickSounds.com">
            <a:hlinkClick r:id="" action="ppaction://media"/>
            <a:extLst>
              <a:ext uri="{FF2B5EF4-FFF2-40B4-BE49-F238E27FC236}">
                <a16:creationId xmlns:a16="http://schemas.microsoft.com/office/drawing/2014/main" id="{E4E45A51-6269-9917-2197-5DB3741883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227" y="6670867"/>
            <a:ext cx="110377" cy="110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5661" y="1037658"/>
            <a:ext cx="10111796" cy="281350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KOBA" pitchFamily="2" charset="0"/>
              </a:rPr>
              <a:t>Extreme Programming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9015C322-3CD2-4A5B-EA1A-AEF2AE08C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063" y="3228855"/>
            <a:ext cx="2893595" cy="289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93935455-34FF-4E36-363D-794FBCAD1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621" y="2920315"/>
            <a:ext cx="1496571" cy="11094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119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5B111-D308-51B6-21EB-145E0265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Hvad er extreme programming (</a:t>
            </a:r>
            <a:r>
              <a:rPr lang="da-DK" sz="4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52327FE-9ADC-78D6-B4F3-E24AD865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70" y="2336197"/>
            <a:ext cx="9905999" cy="3541714"/>
          </a:xfrm>
        </p:spPr>
        <p:txBody>
          <a:bodyPr>
            <a:normAutofit/>
          </a:bodyPr>
          <a:lstStyle/>
          <a:p>
            <a:pPr>
              <a:buSzPct val="90000"/>
              <a:buBlip>
                <a:blip r:embed="rId3"/>
              </a:buBlip>
            </a:pPr>
            <a:r>
              <a:rPr lang="da-DK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Skabt af Kent Beck i slutningen af 1990’erne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Reaktion på tunge og langsomme udviklingsmetoder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Fokus på kvalitet, fleksibilitet og tæt samarbejde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Arbejde i små og hyppige leverancer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476ECA2-9CA6-206E-1DD9-28F233F0D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023" y="2229074"/>
            <a:ext cx="2824485" cy="282448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7512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44CDE-3547-5103-A2C6-B8CFE3EC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Hvorfor </a:t>
            </a:r>
            <a:r>
              <a:rPr lang="da-DK" sz="4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 </a:t>
            </a:r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 en agil metode</a:t>
            </a:r>
            <a:endParaRPr lang="da-DK" sz="4000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37054EC-1F27-DB98-9132-A7AD36FBB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Hurtig tilpasning til nye krav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Arbejde i overskuelige dele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Løbende feedback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Fokus på kundens behov</a:t>
            </a:r>
          </a:p>
        </p:txBody>
      </p:sp>
    </p:spTree>
    <p:extLst>
      <p:ext uri="{BB962C8B-B14F-4D97-AF65-F5344CB8AC3E}">
        <p14:creationId xmlns:p14="http://schemas.microsoft.com/office/powerpoint/2010/main" val="21873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34DC-4A87-8C66-CED0-41B56452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kstfelt 21">
            <a:extLst>
              <a:ext uri="{FF2B5EF4-FFF2-40B4-BE49-F238E27FC236}">
                <a16:creationId xmlns:a16="http://schemas.microsoft.com/office/drawing/2014/main" id="{A343EBBE-A50C-F31D-43EF-056919C57798}"/>
              </a:ext>
            </a:extLst>
          </p:cNvPr>
          <p:cNvSpPr txBox="1"/>
          <p:nvPr/>
        </p:nvSpPr>
        <p:spPr>
          <a:xfrm>
            <a:off x="7528843" y="2348872"/>
            <a:ext cx="2478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 ændrer koden, når det er nødvendigt, også selvom det betyder at smide tidligere arbejde ud. En sund kodebase er vigtigere end stolthed.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140D42CC-F482-42E1-3FC9-A757B2C96C7F}"/>
              </a:ext>
            </a:extLst>
          </p:cNvPr>
          <p:cNvSpPr txBox="1"/>
          <p:nvPr/>
        </p:nvSpPr>
        <p:spPr>
          <a:xfrm>
            <a:off x="7528843" y="2384924"/>
            <a:ext cx="2478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Teamet tager ansvar sammen og respekterer hinandens arbejde, tid og viden.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76BCFE-4610-FAD6-E471-30D8C718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5 kernerværdier i </a:t>
            </a:r>
            <a:r>
              <a:rPr lang="da-DK" sz="4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9A31D252-E110-5373-64BB-564751029384}"/>
              </a:ext>
            </a:extLst>
          </p:cNvPr>
          <p:cNvSpPr txBox="1"/>
          <p:nvPr/>
        </p:nvSpPr>
        <p:spPr>
          <a:xfrm>
            <a:off x="6187155" y="1804700"/>
            <a:ext cx="524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a-DK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Kommunikation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E9D72C8-231B-47A6-6524-267923AF7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0743253"/>
              </p:ext>
            </p:extLst>
          </p:nvPr>
        </p:nvGraphicFramePr>
        <p:xfrm>
          <a:off x="-720671" y="1221829"/>
          <a:ext cx="8128000" cy="6071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kstfelt 12">
            <a:extLst>
              <a:ext uri="{FF2B5EF4-FFF2-40B4-BE49-F238E27FC236}">
                <a16:creationId xmlns:a16="http://schemas.microsoft.com/office/drawing/2014/main" id="{30D0F7B6-D7E6-599A-85C2-CAC8B57EEC4A}"/>
              </a:ext>
            </a:extLst>
          </p:cNvPr>
          <p:cNvSpPr txBox="1"/>
          <p:nvPr/>
        </p:nvSpPr>
        <p:spPr>
          <a:xfrm>
            <a:off x="7528845" y="2348874"/>
            <a:ext cx="2478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Teamet skal tale sammen hele tiden. XP fungerer ikke, hvis alle sidder i hver sin boble og gætter på, hvad der skal ske.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DC259235-D259-C261-7218-5A5EA22134C3}"/>
              </a:ext>
            </a:extLst>
          </p:cNvPr>
          <p:cNvSpPr txBox="1"/>
          <p:nvPr/>
        </p:nvSpPr>
        <p:spPr>
          <a:xfrm>
            <a:off x="7528844" y="2348874"/>
            <a:ext cx="2478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Byg den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enkleste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løsning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der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virker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Ikke den store “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bliver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det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sikkert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nyttigt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konstruktion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ingen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overskue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om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måneder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da-D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C4D5EED9-4BC8-3F6F-8725-B646B2E028B4}"/>
              </a:ext>
            </a:extLst>
          </p:cNvPr>
          <p:cNvSpPr txBox="1"/>
          <p:nvPr/>
        </p:nvSpPr>
        <p:spPr>
          <a:xfrm>
            <a:off x="6187154" y="1804699"/>
            <a:ext cx="524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a-DK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Simplicitet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4411EFDB-AB58-6EA1-3F92-15CCF5472AE3}"/>
              </a:ext>
            </a:extLst>
          </p:cNvPr>
          <p:cNvSpPr txBox="1"/>
          <p:nvPr/>
        </p:nvSpPr>
        <p:spPr>
          <a:xfrm>
            <a:off x="6187153" y="1804699"/>
            <a:ext cx="524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a-DK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Feedback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1F8D2B0B-14EA-478A-EC56-666EDE096F68}"/>
              </a:ext>
            </a:extLst>
          </p:cNvPr>
          <p:cNvSpPr txBox="1"/>
          <p:nvPr/>
        </p:nvSpPr>
        <p:spPr>
          <a:xfrm>
            <a:off x="7528843" y="2348873"/>
            <a:ext cx="2478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Test, kundekommentarer og teamets egne erfaringer bruges til at rette kursen løbende. Intet bliver set som færdigt og urokkeligt.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513CA84A-D32E-1411-644F-FA371ED815E2}"/>
              </a:ext>
            </a:extLst>
          </p:cNvPr>
          <p:cNvSpPr txBox="1"/>
          <p:nvPr/>
        </p:nvSpPr>
        <p:spPr>
          <a:xfrm>
            <a:off x="6187153" y="1804699"/>
            <a:ext cx="524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a-DK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3B5B7FC1-B06C-0C9B-1946-BB16E0DBABD1}"/>
              </a:ext>
            </a:extLst>
          </p:cNvPr>
          <p:cNvSpPr txBox="1"/>
          <p:nvPr/>
        </p:nvSpPr>
        <p:spPr>
          <a:xfrm>
            <a:off x="6187153" y="1804699"/>
            <a:ext cx="524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Respekt</a:t>
            </a:r>
            <a:endParaRPr lang="da-DK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8156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4" grpId="0"/>
      <p:bldP spid="24" grpId="1"/>
      <p:bldP spid="2" grpId="0"/>
      <p:bldP spid="12" grpId="0"/>
      <p:bldP spid="12" grpId="1"/>
      <p:bldGraphic spid="11" grpId="0" uiExpand="1">
        <p:bldAsOne/>
      </p:bldGraphic>
      <p:bldGraphic spid="11" grpId="1" uiExpand="1">
        <p:bldAsOne/>
      </p:bldGraphic>
      <p:bldP spid="13" grpId="0"/>
      <p:bldP spid="13" grpId="1"/>
      <p:bldP spid="18" grpId="0"/>
      <p:bldP spid="18" grpId="1"/>
      <p:bldP spid="17" grpId="0"/>
      <p:bldP spid="17" grpId="1"/>
      <p:bldP spid="19" grpId="0"/>
      <p:bldP spid="19" grpId="1"/>
      <p:bldP spid="20" grpId="0"/>
      <p:bldP spid="20" grpId="1"/>
      <p:bldP spid="21" grpId="0"/>
      <p:bldP spid="21" grpId="1"/>
      <p:bldP spid="23" grpId="0"/>
      <p:bldP spid="2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7FE0-6764-A045-60BD-52B18779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D2ADFF-1602-8CF0-44E6-9AD9D8FB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Grundidéer i </a:t>
            </a:r>
            <a:r>
              <a:rPr lang="da-DK" sz="4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D1380E-77E4-F278-F2F1-B82108F07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Simple løsninger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Tæt kommunikation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Villighed til at forbedre kode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Feedback som styring</a:t>
            </a:r>
          </a:p>
        </p:txBody>
      </p:sp>
    </p:spTree>
    <p:extLst>
      <p:ext uri="{BB962C8B-B14F-4D97-AF65-F5344CB8AC3E}">
        <p14:creationId xmlns:p14="http://schemas.microsoft.com/office/powerpoint/2010/main" val="266523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30A42-05C5-E6F2-435A-980CC164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619F0-6CE1-01D3-386B-67BF2119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Arbejdsmetoder i </a:t>
            </a:r>
            <a:r>
              <a:rPr lang="da-DK" sz="4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5E8842-96D4-6FAA-EE8F-E90D149A1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Per-Programming (2 udviklere om samme kode)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TDD (Test før funktioner bygges)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Koden samles og testes ofte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Hele teamet deler ansvar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Leverancer frigives jævnligt</a:t>
            </a:r>
          </a:p>
        </p:txBody>
      </p:sp>
    </p:spTree>
    <p:extLst>
      <p:ext uri="{BB962C8B-B14F-4D97-AF65-F5344CB8AC3E}">
        <p14:creationId xmlns:p14="http://schemas.microsoft.com/office/powerpoint/2010/main" val="114118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F0F2-22AE-2CBD-FFFF-F6A8D85C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1B3D6-ECCC-EE3B-73BF-3D5757BE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Fordele ved </a:t>
            </a:r>
            <a:r>
              <a:rPr lang="da-DK" sz="4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A5D8E02-EB10-082F-1611-171645968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Høj kvalitet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Færre fejl i produktionen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Hurtigere levering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Bedre overblik og styring</a:t>
            </a:r>
          </a:p>
        </p:txBody>
      </p:sp>
    </p:spTree>
    <p:extLst>
      <p:ext uri="{BB962C8B-B14F-4D97-AF65-F5344CB8AC3E}">
        <p14:creationId xmlns:p14="http://schemas.microsoft.com/office/powerpoint/2010/main" val="412520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5EF8-090D-1E12-0747-EA4A7E13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B9317-7728-E919-B97E-387D5E75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Ulemper ved </a:t>
            </a:r>
            <a:r>
              <a:rPr lang="da-DK" sz="4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D0D5194-F4FF-8F6B-0169-5A397207C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Kræver høj disciplin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Stor afhængighed af tæt samarbejde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Mindre egnet til meget store projekter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Kunden skal være tilgængelig</a:t>
            </a:r>
          </a:p>
          <a:p>
            <a:pPr>
              <a:buSzPct val="90000"/>
              <a:buBlip>
                <a:blip r:embed="rId3"/>
              </a:buBlip>
            </a:pPr>
            <a:r>
              <a:rPr lang="da-DK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Test og ændringer kan være tidskrævende</a:t>
            </a:r>
          </a:p>
        </p:txBody>
      </p:sp>
    </p:spTree>
    <p:extLst>
      <p:ext uri="{BB962C8B-B14F-4D97-AF65-F5344CB8AC3E}">
        <p14:creationId xmlns:p14="http://schemas.microsoft.com/office/powerpoint/2010/main" val="336588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08653EA1-8BEB-8CF5-FAD2-F4E63BD27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0561" y="0"/>
            <a:ext cx="4506311" cy="45063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98104447-4E33-6F7D-4D82-F9A9854D7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1010" y="2196345"/>
            <a:ext cx="1496571" cy="11094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77F17AFC-6EC2-E23E-C5B8-34D277E6F67E}"/>
              </a:ext>
            </a:extLst>
          </p:cNvPr>
          <p:cNvSpPr txBox="1"/>
          <p:nvPr/>
        </p:nvSpPr>
        <p:spPr>
          <a:xfrm>
            <a:off x="2508687" y="4506311"/>
            <a:ext cx="717462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  <a: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-cyklus afsluttet.</a:t>
            </a:r>
            <a:endParaRPr lang="da-DK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Windows XP Shutdown - QuickSounds.com">
            <a:hlinkClick r:id="" action="ppaction://media"/>
            <a:extLst>
              <a:ext uri="{FF2B5EF4-FFF2-40B4-BE49-F238E27FC236}">
                <a16:creationId xmlns:a16="http://schemas.microsoft.com/office/drawing/2014/main" id="{217BD9CB-BA58-AA9A-AA02-0C2B7A436B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 flipH="1" flipV="1">
            <a:off x="302171" y="6668813"/>
            <a:ext cx="98881" cy="9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8" grpId="0"/>
      <p:bldP spid="8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edsløb">
  <a:themeElements>
    <a:clrScheme name="Slipstrø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Kredsløb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edsløb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TM04033919[[fn=Kredsløb]]</Template>
  <TotalTime>107</TotalTime>
  <Words>1006</Words>
  <Application>Microsoft Office PowerPoint</Application>
  <PresentationFormat>Widescreen</PresentationFormat>
  <Paragraphs>113</Paragraphs>
  <Slides>9</Slides>
  <Notes>8</Notes>
  <HiddenSlides>0</HiddenSlides>
  <MMClips>2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4" baseType="lpstr">
      <vt:lpstr>Arial</vt:lpstr>
      <vt:lpstr>Calibri</vt:lpstr>
      <vt:lpstr>KOBA</vt:lpstr>
      <vt:lpstr>Tw Cen MT</vt:lpstr>
      <vt:lpstr>Kredsløb</vt:lpstr>
      <vt:lpstr>Extreme Programming</vt:lpstr>
      <vt:lpstr>Hvad er extreme programming (XP)</vt:lpstr>
      <vt:lpstr>Hvorfor XP er en agil metode</vt:lpstr>
      <vt:lpstr>De 5 kernerværdier i XP</vt:lpstr>
      <vt:lpstr>Grundidéer i XP</vt:lpstr>
      <vt:lpstr>Arbejdsmetoder i XP</vt:lpstr>
      <vt:lpstr>Fordele ved XP</vt:lpstr>
      <vt:lpstr>Ulemper ved XP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Vinther Andersen</dc:creator>
  <cp:lastModifiedBy>Daniel Vinther Andersen</cp:lastModifiedBy>
  <cp:revision>11</cp:revision>
  <dcterms:created xsi:type="dcterms:W3CDTF">2025-11-18T11:09:14Z</dcterms:created>
  <dcterms:modified xsi:type="dcterms:W3CDTF">2025-11-19T07:08:17Z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